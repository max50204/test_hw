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23.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8" r:id="rId3"/>
    <p:sldId id="261" r:id="rId4"/>
    <p:sldId id="269" r:id="rId5"/>
    <p:sldId id="290" r:id="rId6"/>
    <p:sldId id="313" r:id="rId7"/>
    <p:sldId id="314" r:id="rId8"/>
    <p:sldId id="275" r:id="rId9"/>
    <p:sldId id="292" r:id="rId10"/>
    <p:sldId id="291" r:id="rId11"/>
    <p:sldId id="315" r:id="rId12"/>
    <p:sldId id="308" r:id="rId13"/>
    <p:sldId id="299" r:id="rId14"/>
    <p:sldId id="311" r:id="rId15"/>
    <p:sldId id="316" r:id="rId16"/>
    <p:sldId id="317" r:id="rId17"/>
    <p:sldId id="318" r:id="rId18"/>
    <p:sldId id="319" r:id="rId19"/>
    <p:sldId id="320" r:id="rId20"/>
    <p:sldId id="321" r:id="rId21"/>
    <p:sldId id="322" r:id="rId22"/>
    <p:sldId id="323" r:id="rId23"/>
    <p:sldId id="284" r:id="rId2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dith Schmidt" initials="WTA" lastIdx="14" clrIdx="0">
    <p:extLst>
      <p:ext uri="{19B8F6BF-5375-455C-9EA6-DF929625EA0E}">
        <p15:presenceInfo xmlns:p15="http://schemas.microsoft.com/office/powerpoint/2012/main" userId="474b2bd425d842c6" providerId="Windows Live"/>
      </p:ext>
    </p:extLst>
  </p:cmAuthor>
  <p:cmAuthor id="2" name="Nadin Härtwig" initials="NH" lastIdx="2" clrIdx="1">
    <p:extLst>
      <p:ext uri="{19B8F6BF-5375-455C-9EA6-DF929625EA0E}">
        <p15:presenceInfo xmlns:p15="http://schemas.microsoft.com/office/powerpoint/2012/main" userId="S-1-5-21-1661223178-1243372403-751859383-565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414" autoAdjust="0"/>
    <p:restoredTop sz="94660"/>
  </p:normalViewPr>
  <p:slideViewPr>
    <p:cSldViewPr snapToGrid="0" showGuides="1">
      <p:cViewPr varScale="1">
        <p:scale>
          <a:sx n="112" d="100"/>
          <a:sy n="112" d="100"/>
        </p:scale>
        <p:origin x="126" y="288"/>
      </p:cViewPr>
      <p:guideLst>
        <p:guide orient="horz" pos="2160"/>
        <p:guide pos="3840"/>
      </p:guideLst>
    </p:cSldViewPr>
  </p:slideViewPr>
  <p:notesTextViewPr>
    <p:cViewPr>
      <p:scale>
        <a:sx n="3" d="2"/>
        <a:sy n="3" d="2"/>
      </p:scale>
      <p:origin x="0" y="0"/>
    </p:cViewPr>
  </p:notesTextViewPr>
  <p:sorterViewPr>
    <p:cViewPr>
      <p:scale>
        <a:sx n="100" d="100"/>
        <a:sy n="100" d="100"/>
      </p:scale>
      <p:origin x="0" y="-85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32F82-A1A7-4E27-9EDA-BCDA36A3D567}" type="datetimeFigureOut">
              <a:rPr lang="de-DE" smtClean="0"/>
              <a:t>17.09.2021</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032DD2-93A8-4518-AFB6-76C529CD584D}" type="slidenum">
              <a:rPr lang="de-DE" smtClean="0"/>
              <a:t>‹Nr.›</a:t>
            </a:fld>
            <a:endParaRPr lang="de-DE" dirty="0"/>
          </a:p>
        </p:txBody>
      </p:sp>
    </p:spTree>
    <p:extLst>
      <p:ext uri="{BB962C8B-B14F-4D97-AF65-F5344CB8AC3E}">
        <p14:creationId xmlns:p14="http://schemas.microsoft.com/office/powerpoint/2010/main" val="3855631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0CCCAC1D-F00E-429C-B353-C86B4B1277F7}" type="datetime1">
              <a:rPr lang="de-DE" smtClean="0"/>
              <a:t>17.09.2021</a:t>
            </a:fld>
            <a:endParaRPr lang="de-DE" dirty="0"/>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smtClean="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100434683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32" userDrawn="1">
          <p15:clr>
            <a:srgbClr val="000000"/>
          </p15:clr>
        </p15:guide>
        <p15:guide id="2" orient="horz" pos="3861" userDrawn="1">
          <p15:clr>
            <a:srgbClr val="000000"/>
          </p15:clr>
        </p15:guide>
        <p15:guide id="3" pos="7469" userDrawn="1">
          <p15:clr>
            <a:srgbClr val="000000"/>
          </p15:clr>
        </p15:guide>
        <p15:guide id="4" pos="211" userDrawn="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D0AECD78-E9C2-4529-B305-0270EF2772FF}" type="datetime1">
              <a:rPr lang="de-DE" smtClean="0"/>
              <a:t>17.09.2021</a:t>
            </a:fld>
            <a:endParaRPr lang="de-DE" dirty="0"/>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smtClean="0">
                <a:solidFill>
                  <a:schemeClr val="tx1"/>
                </a:solidFill>
                <a:latin typeface="+mn-lt"/>
              </a:rPr>
              <a:t>Untertitel</a:t>
            </a:r>
            <a:endParaRPr lang="de-DE" dirty="0">
              <a:solidFill>
                <a:schemeClr val="tx1"/>
              </a:solidFill>
              <a:latin typeface="+mn-lt"/>
            </a:endParaRP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smtClean="0"/>
              <a:t>Bild durch klick auf das Symbol hinzufügen und in den Hintergrund verschieben.</a:t>
            </a:r>
            <a:endParaRPr lang="de-DE" dirty="0"/>
          </a:p>
        </p:txBody>
      </p:sp>
    </p:spTree>
    <p:extLst>
      <p:ext uri="{BB962C8B-B14F-4D97-AF65-F5344CB8AC3E}">
        <p14:creationId xmlns:p14="http://schemas.microsoft.com/office/powerpoint/2010/main" val="9504044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43FFBDD5-A338-46A7-855B-34B5D6B1AD98}" type="datetime1">
              <a:rPr lang="de-DE" smtClean="0"/>
              <a:t>17.09.2021</a:t>
            </a:fld>
            <a:endParaRPr lang="de-DE" dirty="0"/>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smtClean="0"/>
              <a:t>01</a:t>
            </a:r>
            <a:endParaRPr lang="de-DE" dirty="0"/>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smtClean="0"/>
              <a:t>Das erste Thema/Tag</a:t>
            </a:r>
            <a:endParaRPr lang="de-DE" dirty="0"/>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1.1 </a:t>
            </a:r>
            <a:br>
              <a:rPr lang="de-DE" dirty="0" smtClean="0"/>
            </a:br>
            <a:r>
              <a:rPr lang="de-DE" dirty="0" smtClean="0"/>
              <a:t>Oder das Thema untergliedert werden</a:t>
            </a:r>
            <a:endParaRPr lang="de-DE" dirty="0"/>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smtClean="0"/>
              <a:t>02</a:t>
            </a:r>
            <a:endParaRPr lang="de-DE" dirty="0"/>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smtClean="0"/>
              <a:t>Das zweite Thema/Tag</a:t>
            </a:r>
            <a:endParaRPr lang="de-DE" dirty="0"/>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2.1 </a:t>
            </a:r>
            <a:br>
              <a:rPr lang="de-DE" dirty="0" smtClean="0"/>
            </a:br>
            <a:r>
              <a:rPr lang="de-DE" dirty="0" smtClean="0"/>
              <a:t>Oder das Thema untergliedert werden</a:t>
            </a:r>
            <a:endParaRPr lang="de-DE" dirty="0"/>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smtClean="0"/>
              <a:t>03</a:t>
            </a:r>
            <a:endParaRPr lang="de-DE" dirty="0"/>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smtClean="0"/>
              <a:t>Das dritte Thema/Tag</a:t>
            </a:r>
            <a:endParaRPr lang="de-DE" dirty="0"/>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3.1 </a:t>
            </a:r>
            <a:br>
              <a:rPr lang="de-DE" dirty="0" smtClean="0"/>
            </a:br>
            <a:r>
              <a:rPr lang="de-DE" dirty="0" smtClean="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smtClean="0"/>
              <a:t>04</a:t>
            </a:r>
            <a:endParaRPr lang="de-DE" dirty="0"/>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smtClean="0"/>
              <a:t>Das vierte Thema/Tag</a:t>
            </a:r>
            <a:endParaRPr lang="de-DE" dirty="0"/>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4.1 </a:t>
            </a:r>
            <a:br>
              <a:rPr lang="de-DE" dirty="0" smtClean="0"/>
            </a:br>
            <a:r>
              <a:rPr lang="de-DE" dirty="0" smtClean="0"/>
              <a:t>Oder das Thema untergliedert werden</a:t>
            </a:r>
            <a:endParaRPr lang="de-DE" dirty="0"/>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smtClean="0"/>
              <a:t>05</a:t>
            </a:r>
            <a:endParaRPr lang="de-DE" dirty="0"/>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smtClean="0"/>
              <a:t>Das fünfte Thema/Tag</a:t>
            </a:r>
            <a:endParaRPr lang="de-DE" dirty="0"/>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5.1 </a:t>
            </a:r>
            <a:br>
              <a:rPr lang="de-DE" dirty="0" smtClean="0"/>
            </a:br>
            <a:r>
              <a:rPr lang="de-DE" dirty="0" smtClean="0"/>
              <a:t>Oder das Thema untergliedert werden</a:t>
            </a:r>
            <a:endParaRPr lang="de-DE" dirty="0"/>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smtClean="0"/>
              <a:t>Themenübersicht</a:t>
            </a:r>
            <a:endParaRPr lang="de-DE" dirty="0"/>
          </a:p>
        </p:txBody>
      </p:sp>
    </p:spTree>
    <p:extLst>
      <p:ext uri="{BB962C8B-B14F-4D97-AF65-F5344CB8AC3E}">
        <p14:creationId xmlns:p14="http://schemas.microsoft.com/office/powerpoint/2010/main" val="373409903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979967BB-5F27-4621-AEA9-AF0A63B1F279}"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smtClean="0"/>
              <a:t>Lernziele</a:t>
            </a:r>
            <a:endParaRPr lang="de-DE" dirty="0"/>
          </a:p>
        </p:txBody>
      </p:sp>
    </p:spTree>
    <p:extLst>
      <p:ext uri="{BB962C8B-B14F-4D97-AF65-F5344CB8AC3E}">
        <p14:creationId xmlns:p14="http://schemas.microsoft.com/office/powerpoint/2010/main" val="393748965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6631AAEE-6942-4D83-9400-E2798784921F}"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smtClean="0"/>
              <a:t>Lernziele</a:t>
            </a:r>
            <a:endParaRPr lang="de-DE" dirty="0"/>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Tree>
    <p:extLst>
      <p:ext uri="{BB962C8B-B14F-4D97-AF65-F5344CB8AC3E}">
        <p14:creationId xmlns:p14="http://schemas.microsoft.com/office/powerpoint/2010/main" val="158900713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11F2DB98-4717-4224-8C3D-05142073BAC1}" type="datetime1">
              <a:rPr lang="de-DE" smtClean="0"/>
              <a:t>17.09.2021</a:t>
            </a:fld>
            <a:endParaRPr lang="de-DE" dirty="0"/>
          </a:p>
        </p:txBody>
      </p:sp>
      <p:sp>
        <p:nvSpPr>
          <p:cNvPr id="8" name="Fußzeilenplatzhalter 7"/>
          <p:cNvSpPr>
            <a:spLocks noGrp="1"/>
          </p:cNvSpPr>
          <p:nvPr>
            <p:ph type="ftr" sz="quarter" idx="11"/>
          </p:nvPr>
        </p:nvSpPr>
        <p:spPr/>
        <p:txBody>
          <a:bodyPr/>
          <a:lstStyle/>
          <a:p>
            <a:r>
              <a:rPr lang="de-DE" smtClean="0"/>
              <a:t>Datenbankverbindung mit IntelliJ und MySQL</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89826872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smtClean="0"/>
              <a:t>Bild durch klick auf das Symbol hinzufügen und in den Hintergrund verschieben.</a:t>
            </a:r>
          </a:p>
          <a:p>
            <a:endParaRPr lang="de-DE" dirty="0" smtClean="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85241627-E8B2-467A-A141-B42F6C4EBA2E}" type="datetime1">
              <a:rPr lang="de-DE" smtClean="0"/>
              <a:t>17.09.2021</a:t>
            </a:fld>
            <a:endParaRPr lang="de-DE" dirty="0"/>
          </a:p>
        </p:txBody>
      </p:sp>
      <p:sp>
        <p:nvSpPr>
          <p:cNvPr id="8" name="Fußzeilenplatzhalter 7"/>
          <p:cNvSpPr>
            <a:spLocks noGrp="1"/>
          </p:cNvSpPr>
          <p:nvPr>
            <p:ph type="ftr" sz="quarter" idx="11"/>
          </p:nvPr>
        </p:nvSpPr>
        <p:spPr/>
        <p:txBody>
          <a:bodyPr/>
          <a:lstStyle/>
          <a:p>
            <a:r>
              <a:rPr lang="de-DE" smtClean="0"/>
              <a:t>Datenbankverbindung mit IntelliJ und MySQL</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142896150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EF7952CB-F272-4607-A3D1-F6F402E41515}"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smtClean="0"/>
              <a:t>Formatvorlagen des Textmasters bearbeiten</a:t>
            </a:r>
          </a:p>
        </p:txBody>
      </p:sp>
    </p:spTree>
    <p:extLst>
      <p:ext uri="{BB962C8B-B14F-4D97-AF65-F5344CB8AC3E}">
        <p14:creationId xmlns:p14="http://schemas.microsoft.com/office/powerpoint/2010/main" val="3118912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ACF4CA12-CE68-41AD-8217-B70614F954A1}"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smtClean="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smtClean="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smtClean="0"/>
              <a:t>Optional kann hier eine zweite Überschrift eingefügt werden.</a:t>
            </a:r>
            <a:endParaRPr lang="de-DE" dirty="0"/>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smtClean="0"/>
              <a:t>Optional kann hier eine zweite Überschrift eingefügt werden.</a:t>
            </a:r>
            <a:endParaRPr lang="de-DE" dirty="0"/>
          </a:p>
        </p:txBody>
      </p:sp>
    </p:spTree>
    <p:extLst>
      <p:ext uri="{BB962C8B-B14F-4D97-AF65-F5344CB8AC3E}">
        <p14:creationId xmlns:p14="http://schemas.microsoft.com/office/powerpoint/2010/main" val="3457550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DA093F35-7C6E-45B8-98D1-A8D1C9F80D71}"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smtClean="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133830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02AE06A7-C52B-4A72-B623-1A4547A4D16E}"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smtClean="0"/>
              <a:t>Formatvorlagen des Textmasters bearbeiten</a:t>
            </a:r>
          </a:p>
        </p:txBody>
      </p:sp>
    </p:spTree>
    <p:extLst>
      <p:ext uri="{BB962C8B-B14F-4D97-AF65-F5344CB8AC3E}">
        <p14:creationId xmlns:p14="http://schemas.microsoft.com/office/powerpoint/2010/main" val="4164559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1AE8424-777B-4626-BB6B-3F80E7472AF3}"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t>Datenbankverbindung mit IntelliJ und MySQL</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0877268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71BE1A5E-A56F-4CDB-8B26-163703A7B3FC}"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t>Datenbankverbindung mit IntelliJ und MySQL</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smtClean="0"/>
              <a:t>Formatvorlagen des Textmasters bearbeiten</a:t>
            </a:r>
          </a:p>
        </p:txBody>
      </p:sp>
    </p:spTree>
    <p:extLst>
      <p:ext uri="{BB962C8B-B14F-4D97-AF65-F5344CB8AC3E}">
        <p14:creationId xmlns:p14="http://schemas.microsoft.com/office/powerpoint/2010/main" val="25011237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70896098-E0C0-4473-A419-A33FFEE2FE61}"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t>Datenbankverbindung mit IntelliJ und MySQL</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1859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1AE4918-DFF4-4C82-9A3A-39269473E6BA}"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t>Datenbankverbindung mit IntelliJ und MySQL</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Tree>
    <p:extLst>
      <p:ext uri="{BB962C8B-B14F-4D97-AF65-F5344CB8AC3E}">
        <p14:creationId xmlns:p14="http://schemas.microsoft.com/office/powerpoint/2010/main" val="433293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EBBC9912-F077-48C1-B9EB-AB03B1A84821}"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Tree>
    <p:extLst>
      <p:ext uri="{BB962C8B-B14F-4D97-AF65-F5344CB8AC3E}">
        <p14:creationId xmlns:p14="http://schemas.microsoft.com/office/powerpoint/2010/main" val="40793755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041BF359-C93B-4223-9B07-8E6514311086}"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840289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A4495C1-D5EF-458C-9D75-32C0E9E28244}"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Tree>
    <p:extLst>
      <p:ext uri="{BB962C8B-B14F-4D97-AF65-F5344CB8AC3E}">
        <p14:creationId xmlns:p14="http://schemas.microsoft.com/office/powerpoint/2010/main" val="31603700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998D1AA-39EE-47FE-8DFF-F80DE902FA11}"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5768434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59EEF2F1-04FC-48E1-9E4D-4FFBA98B4E8C}"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smtClean="0"/>
              <a:t>Diagramm</a:t>
            </a:r>
            <a:endParaRPr lang="de-DE" dirty="0"/>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smtClean="0"/>
              <a:t>Hier können zusätzliche Informationen aufgelistet werden</a:t>
            </a:r>
            <a:endParaRPr lang="de-DE" dirty="0"/>
          </a:p>
        </p:txBody>
      </p:sp>
    </p:spTree>
    <p:extLst>
      <p:ext uri="{BB962C8B-B14F-4D97-AF65-F5344CB8AC3E}">
        <p14:creationId xmlns:p14="http://schemas.microsoft.com/office/powerpoint/2010/main" val="26239415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C4C6BAD0-2949-4334-808A-81B9C09E8EEF}"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23700353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DC8C1ECA-B134-4A04-8F29-FF700983F10C}"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21779168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8CA00995-D63C-4122-A61C-BD3BA548DA91}"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748976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4133B05-F184-46B7-BCC3-64A71B0245BB}"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30473011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BAF0058C-9578-4248-8566-D62900E64A2F}"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6557252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CD6E27B-CDAF-417A-970B-2E97BAE8904A}"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823135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8E36EC0-3D68-43CE-AB56-B92A71BA16FA}"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smtClean="0"/>
              <a:t>Titel der Aufgabe</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5065078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54DD8C5D-7855-4856-B635-552828682298}"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18478856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37277BB5-8C7F-41B2-94E8-A9624C5B34D1}"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a:t>
            </a:r>
            <a:r>
              <a:rPr lang="de-DE" dirty="0" smtClean="0"/>
              <a:t>3</a:t>
            </a:r>
            <a:endParaRPr lang="de-DE" dirty="0"/>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a:t>
            </a:r>
            <a:r>
              <a:rPr lang="de-DE" dirty="0" smtClean="0"/>
              <a:t>4</a:t>
            </a:r>
            <a:endParaRPr lang="de-DE" dirty="0"/>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a:t>
            </a:r>
            <a:r>
              <a:rPr lang="de-DE" dirty="0" smtClean="0"/>
              <a:t>2</a:t>
            </a:r>
            <a:endParaRPr lang="de-DE" dirty="0"/>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Ressourcen</a:t>
            </a:r>
            <a:endParaRPr lang="de-DE" dirty="0"/>
          </a:p>
        </p:txBody>
      </p:sp>
    </p:spTree>
    <p:extLst>
      <p:ext uri="{BB962C8B-B14F-4D97-AF65-F5344CB8AC3E}">
        <p14:creationId xmlns:p14="http://schemas.microsoft.com/office/powerpoint/2010/main" val="17550657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DC0E7ED-902F-4AC1-BE61-D7B417614FFD}" type="datetime1">
              <a:rPr lang="de-DE" smtClean="0"/>
              <a:t>17.09.2021</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Quellen</a:t>
            </a:r>
            <a:endParaRPr lang="de-DE" dirty="0"/>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smtClean="0"/>
              <a:t>1</a:t>
            </a:r>
            <a:r>
              <a:rPr lang="de-DE" dirty="0" smtClean="0"/>
              <a:t> </a:t>
            </a:r>
            <a:r>
              <a:rPr lang="de-DE" dirty="0"/>
              <a:t>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r>
              <a:rPr lang="de-DE" dirty="0" smtClean="0"/>
              <a: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smtClean="0"/>
              <a:t>Buchquelle</a:t>
            </a:r>
            <a:endParaRPr lang="de-DE" dirty="0"/>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smtClean="0"/>
              <a:t>1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r>
              <a:rPr lang="de-DE" baseline="30000" dirty="0" smtClean="0"/>
              <a:t>2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smtClean="0"/>
              <a:t>Abbildungen</a:t>
            </a:r>
            <a:endParaRPr lang="de-DE" dirty="0"/>
          </a:p>
        </p:txBody>
      </p:sp>
    </p:spTree>
    <p:extLst>
      <p:ext uri="{BB962C8B-B14F-4D97-AF65-F5344CB8AC3E}">
        <p14:creationId xmlns:p14="http://schemas.microsoft.com/office/powerpoint/2010/main" val="18823191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801C37CC-ECB3-4A5D-BCC9-8E20EEC2F85B}"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smtClean="0"/>
              <a:t>VIELEN DANK!</a:t>
            </a:r>
            <a:endParaRPr lang="de-DE" dirty="0"/>
          </a:p>
        </p:txBody>
      </p:sp>
    </p:spTree>
    <p:extLst>
      <p:ext uri="{BB962C8B-B14F-4D97-AF65-F5344CB8AC3E}">
        <p14:creationId xmlns:p14="http://schemas.microsoft.com/office/powerpoint/2010/main" val="1915209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910587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A73B8FC3-327A-425F-AE23-9968FDAC6604}" type="datetime1">
              <a:rPr lang="de-DE" smtClean="0"/>
              <a:t>17.09.2021</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smtClean="0"/>
              <a:t>Datenbankverbindung mit IntelliJ und MySQL</a:t>
            </a:r>
            <a:endParaRPr lang="de-DE" dirty="0"/>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2372559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0" r:id="rId5"/>
    <p:sldLayoutId id="2147483653" r:id="rId6"/>
    <p:sldLayoutId id="2147483661" r:id="rId7"/>
    <p:sldLayoutId id="2147483654" r:id="rId8"/>
    <p:sldLayoutId id="2147483664" r:id="rId9"/>
    <p:sldLayoutId id="2147483662" r:id="rId10"/>
    <p:sldLayoutId id="2147483663" r:id="rId11"/>
    <p:sldLayoutId id="2147483655" r:id="rId12"/>
    <p:sldLayoutId id="2147483666" r:id="rId13"/>
    <p:sldLayoutId id="2147483665" r:id="rId14"/>
    <p:sldLayoutId id="2147483667" r:id="rId15"/>
    <p:sldLayoutId id="2147483656" r:id="rId16"/>
    <p:sldLayoutId id="2147483671" r:id="rId17"/>
    <p:sldLayoutId id="2147483672" r:id="rId18"/>
    <p:sldLayoutId id="2147483673" r:id="rId19"/>
    <p:sldLayoutId id="2147483674" r:id="rId20"/>
    <p:sldLayoutId id="2147483681" r:id="rId21"/>
    <p:sldLayoutId id="2147483685" r:id="rId22"/>
    <p:sldLayoutId id="2147483675" r:id="rId23"/>
    <p:sldLayoutId id="2147483676" r:id="rId24"/>
    <p:sldLayoutId id="2147483677" r:id="rId25"/>
    <p:sldLayoutId id="2147483684" r:id="rId26"/>
    <p:sldLayoutId id="2147483682" r:id="rId27"/>
    <p:sldLayoutId id="2147483683" r:id="rId28"/>
    <p:sldLayoutId id="2147483678" r:id="rId29"/>
    <p:sldLayoutId id="2147483679" r:id="rId30"/>
    <p:sldLayoutId id="2147483680" r:id="rId31"/>
    <p:sldLayoutId id="2147483659"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000000"/>
          </p15:clr>
        </p15:guide>
        <p15:guide id="2" pos="211" userDrawn="1">
          <p15:clr>
            <a:srgbClr val="000000"/>
          </p15:clr>
        </p15:guide>
        <p15:guide id="3" orient="horz" pos="4320" userDrawn="1">
          <p15:clr>
            <a:srgbClr val="000000"/>
          </p15:clr>
        </p15:guide>
        <p15:guide id="4" orient="horz" pos="3974" userDrawn="1">
          <p15:clr>
            <a:srgbClr val="000000"/>
          </p15:clr>
        </p15:guide>
        <p15:guide id="5" pos="7673" userDrawn="1">
          <p15:clr>
            <a:srgbClr val="000000"/>
          </p15:clr>
        </p15:guide>
        <p15:guide id="6" pos="7469" userDrawn="1">
          <p15:clr>
            <a:srgbClr val="000000"/>
          </p15:clr>
        </p15:guide>
        <p15:guide id="7" orient="horz" userDrawn="1">
          <p15:clr>
            <a:srgbClr val="000000"/>
          </p15:clr>
        </p15:guide>
        <p15:guide id="8" orient="horz" pos="346" userDrawn="1">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www.apachefriends.org/de/index.html" TargetMode="External"/><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dev.mysql.com/downloads/connector/j/" TargetMode="External"/><Relationship Id="rId2" Type="http://schemas.openxmlformats.org/officeDocument/2006/relationships/image" Target="../media/image11.PNG"/><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afik 46" descr="Präsentation mit Checkliste">
            <a:extLst>
              <a:ext uri="{FF2B5EF4-FFF2-40B4-BE49-F238E27FC236}">
                <a16:creationId xmlns:a16="http://schemas.microsoft.com/office/drawing/2014/main" id="{45B54F59-429D-4CFF-859E-311E7A2B2C1C}"/>
              </a:ext>
            </a:extLst>
          </p:cNvPr>
          <p:cNvGrpSpPr/>
          <p:nvPr/>
        </p:nvGrpSpPr>
        <p:grpSpPr>
          <a:xfrm>
            <a:off x="34786" y="957826"/>
            <a:ext cx="4621663" cy="4621663"/>
            <a:chOff x="1328589" y="3740852"/>
            <a:chExt cx="652113" cy="652113"/>
          </a:xfrm>
          <a:solidFill>
            <a:schemeClr val="bg1"/>
          </a:solidFill>
        </p:grpSpPr>
        <p:sp>
          <p:nvSpPr>
            <p:cNvPr id="10" name="Freihandform: Form 123">
              <a:extLst>
                <a:ext uri="{FF2B5EF4-FFF2-40B4-BE49-F238E27FC236}">
                  <a16:creationId xmlns:a16="http://schemas.microsoft.com/office/drawing/2014/main" id="{D19406B6-2121-4DB0-BE56-6546B216E7A6}"/>
                </a:ext>
              </a:extLst>
            </p:cNvPr>
            <p:cNvSpPr/>
            <p:nvPr/>
          </p:nvSpPr>
          <p:spPr>
            <a:xfrm>
              <a:off x="1396517" y="3815573"/>
              <a:ext cx="516256" cy="509463"/>
            </a:xfrm>
            <a:custGeom>
              <a:avLst/>
              <a:gdLst>
                <a:gd name="connsiteX0" fmla="*/ 448328 w 516256"/>
                <a:gd name="connsiteY0" fmla="*/ 74721 h 509463"/>
                <a:gd name="connsiteX1" fmla="*/ 448328 w 516256"/>
                <a:gd name="connsiteY1" fmla="*/ 319264 h 509463"/>
                <a:gd name="connsiteX2" fmla="*/ 67928 w 516256"/>
                <a:gd name="connsiteY2" fmla="*/ 319264 h 509463"/>
                <a:gd name="connsiteX3" fmla="*/ 67928 w 516256"/>
                <a:gd name="connsiteY3" fmla="*/ 74721 h 509463"/>
                <a:gd name="connsiteX4" fmla="*/ 502670 w 516256"/>
                <a:gd name="connsiteY4" fmla="*/ 332849 h 509463"/>
                <a:gd name="connsiteX5" fmla="*/ 489085 w 516256"/>
                <a:gd name="connsiteY5" fmla="*/ 332849 h 509463"/>
                <a:gd name="connsiteX6" fmla="*/ 489085 w 516256"/>
                <a:gd name="connsiteY6" fmla="*/ 54343 h 509463"/>
                <a:gd name="connsiteX7" fmla="*/ 502670 w 516256"/>
                <a:gd name="connsiteY7" fmla="*/ 54343 h 509463"/>
                <a:gd name="connsiteX8" fmla="*/ 516256 w 516256"/>
                <a:gd name="connsiteY8" fmla="*/ 40757 h 509463"/>
                <a:gd name="connsiteX9" fmla="*/ 502670 w 516256"/>
                <a:gd name="connsiteY9" fmla="*/ 27171 h 509463"/>
                <a:gd name="connsiteX10" fmla="*/ 271714 w 516256"/>
                <a:gd name="connsiteY10" fmla="*/ 27171 h 509463"/>
                <a:gd name="connsiteX11" fmla="*/ 271714 w 516256"/>
                <a:gd name="connsiteY11" fmla="*/ 13586 h 509463"/>
                <a:gd name="connsiteX12" fmla="*/ 258128 w 516256"/>
                <a:gd name="connsiteY12" fmla="*/ 0 h 509463"/>
                <a:gd name="connsiteX13" fmla="*/ 244542 w 516256"/>
                <a:gd name="connsiteY13" fmla="*/ 13586 h 509463"/>
                <a:gd name="connsiteX14" fmla="*/ 244542 w 516256"/>
                <a:gd name="connsiteY14" fmla="*/ 27171 h 509463"/>
                <a:gd name="connsiteX15" fmla="*/ 13586 w 516256"/>
                <a:gd name="connsiteY15" fmla="*/ 27171 h 509463"/>
                <a:gd name="connsiteX16" fmla="*/ 0 w 516256"/>
                <a:gd name="connsiteY16" fmla="*/ 40757 h 509463"/>
                <a:gd name="connsiteX17" fmla="*/ 13586 w 516256"/>
                <a:gd name="connsiteY17" fmla="*/ 54343 h 509463"/>
                <a:gd name="connsiteX18" fmla="*/ 27171 w 516256"/>
                <a:gd name="connsiteY18" fmla="*/ 54343 h 509463"/>
                <a:gd name="connsiteX19" fmla="*/ 27171 w 516256"/>
                <a:gd name="connsiteY19" fmla="*/ 332849 h 509463"/>
                <a:gd name="connsiteX20" fmla="*/ 13586 w 516256"/>
                <a:gd name="connsiteY20" fmla="*/ 332849 h 509463"/>
                <a:gd name="connsiteX21" fmla="*/ 0 w 516256"/>
                <a:gd name="connsiteY21" fmla="*/ 346435 h 509463"/>
                <a:gd name="connsiteX22" fmla="*/ 13586 w 516256"/>
                <a:gd name="connsiteY22" fmla="*/ 360021 h 509463"/>
                <a:gd name="connsiteX23" fmla="*/ 221039 w 516256"/>
                <a:gd name="connsiteY23" fmla="*/ 360021 h 509463"/>
                <a:gd name="connsiteX24" fmla="*/ 116429 w 516256"/>
                <a:gd name="connsiteY24" fmla="*/ 464631 h 509463"/>
                <a:gd name="connsiteX25" fmla="*/ 116531 w 516256"/>
                <a:gd name="connsiteY25" fmla="*/ 483956 h 509463"/>
                <a:gd name="connsiteX26" fmla="*/ 135857 w 516256"/>
                <a:gd name="connsiteY26" fmla="*/ 483854 h 509463"/>
                <a:gd name="connsiteX27" fmla="*/ 244542 w 516256"/>
                <a:gd name="connsiteY27" fmla="*/ 375169 h 509463"/>
                <a:gd name="connsiteX28" fmla="*/ 244542 w 516256"/>
                <a:gd name="connsiteY28" fmla="*/ 495878 h 509463"/>
                <a:gd name="connsiteX29" fmla="*/ 258128 w 516256"/>
                <a:gd name="connsiteY29" fmla="*/ 509463 h 509463"/>
                <a:gd name="connsiteX30" fmla="*/ 271714 w 516256"/>
                <a:gd name="connsiteY30" fmla="*/ 495878 h 509463"/>
                <a:gd name="connsiteX31" fmla="*/ 271714 w 516256"/>
                <a:gd name="connsiteY31" fmla="*/ 374965 h 509463"/>
                <a:gd name="connsiteX32" fmla="*/ 380399 w 516256"/>
                <a:gd name="connsiteY32" fmla="*/ 483650 h 509463"/>
                <a:gd name="connsiteX33" fmla="*/ 399623 w 516256"/>
                <a:gd name="connsiteY33" fmla="*/ 483650 h 509463"/>
                <a:gd name="connsiteX34" fmla="*/ 399623 w 516256"/>
                <a:gd name="connsiteY34" fmla="*/ 464427 h 509463"/>
                <a:gd name="connsiteX35" fmla="*/ 295217 w 516256"/>
                <a:gd name="connsiteY35" fmla="*/ 360021 h 509463"/>
                <a:gd name="connsiteX36" fmla="*/ 502670 w 516256"/>
                <a:gd name="connsiteY36" fmla="*/ 360021 h 509463"/>
                <a:gd name="connsiteX37" fmla="*/ 516256 w 516256"/>
                <a:gd name="connsiteY37" fmla="*/ 346435 h 509463"/>
                <a:gd name="connsiteX38" fmla="*/ 502670 w 516256"/>
                <a:gd name="connsiteY38" fmla="*/ 332849 h 50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16256" h="509463">
                  <a:moveTo>
                    <a:pt x="448328" y="74721"/>
                  </a:moveTo>
                  <a:lnTo>
                    <a:pt x="448328" y="319264"/>
                  </a:lnTo>
                  <a:lnTo>
                    <a:pt x="67928" y="319264"/>
                  </a:lnTo>
                  <a:lnTo>
                    <a:pt x="67928" y="74721"/>
                  </a:lnTo>
                  <a:close/>
                  <a:moveTo>
                    <a:pt x="502670" y="332849"/>
                  </a:moveTo>
                  <a:lnTo>
                    <a:pt x="489085" y="332849"/>
                  </a:lnTo>
                  <a:lnTo>
                    <a:pt x="489085" y="54343"/>
                  </a:lnTo>
                  <a:lnTo>
                    <a:pt x="502670" y="54343"/>
                  </a:lnTo>
                  <a:cubicBezTo>
                    <a:pt x="510174" y="54343"/>
                    <a:pt x="516256" y="48260"/>
                    <a:pt x="516256" y="40757"/>
                  </a:cubicBezTo>
                  <a:cubicBezTo>
                    <a:pt x="516256" y="33254"/>
                    <a:pt x="510174" y="27171"/>
                    <a:pt x="502670" y="27171"/>
                  </a:cubicBezTo>
                  <a:lnTo>
                    <a:pt x="271714" y="27171"/>
                  </a:lnTo>
                  <a:lnTo>
                    <a:pt x="271714" y="13586"/>
                  </a:lnTo>
                  <a:cubicBezTo>
                    <a:pt x="271714" y="6082"/>
                    <a:pt x="265631" y="0"/>
                    <a:pt x="258128" y="0"/>
                  </a:cubicBezTo>
                  <a:cubicBezTo>
                    <a:pt x="250625" y="0"/>
                    <a:pt x="244542" y="6082"/>
                    <a:pt x="244542" y="13586"/>
                  </a:cubicBezTo>
                  <a:lnTo>
                    <a:pt x="244542" y="27171"/>
                  </a:lnTo>
                  <a:lnTo>
                    <a:pt x="13586" y="27171"/>
                  </a:lnTo>
                  <a:cubicBezTo>
                    <a:pt x="6082" y="27171"/>
                    <a:pt x="0" y="33254"/>
                    <a:pt x="0" y="40757"/>
                  </a:cubicBezTo>
                  <a:cubicBezTo>
                    <a:pt x="0" y="48260"/>
                    <a:pt x="6082" y="54343"/>
                    <a:pt x="13586" y="54343"/>
                  </a:cubicBezTo>
                  <a:lnTo>
                    <a:pt x="27171" y="54343"/>
                  </a:lnTo>
                  <a:lnTo>
                    <a:pt x="27171" y="332849"/>
                  </a:lnTo>
                  <a:lnTo>
                    <a:pt x="13586" y="332849"/>
                  </a:lnTo>
                  <a:cubicBezTo>
                    <a:pt x="6082" y="332849"/>
                    <a:pt x="0" y="338932"/>
                    <a:pt x="0" y="346435"/>
                  </a:cubicBezTo>
                  <a:cubicBezTo>
                    <a:pt x="0" y="353938"/>
                    <a:pt x="6082" y="360021"/>
                    <a:pt x="13586" y="360021"/>
                  </a:cubicBezTo>
                  <a:lnTo>
                    <a:pt x="221039" y="360021"/>
                  </a:lnTo>
                  <a:lnTo>
                    <a:pt x="116429" y="464631"/>
                  </a:lnTo>
                  <a:cubicBezTo>
                    <a:pt x="111121" y="469995"/>
                    <a:pt x="111166" y="478648"/>
                    <a:pt x="116531" y="483956"/>
                  </a:cubicBezTo>
                  <a:cubicBezTo>
                    <a:pt x="121896" y="489265"/>
                    <a:pt x="130548" y="489219"/>
                    <a:pt x="135857" y="483854"/>
                  </a:cubicBezTo>
                  <a:lnTo>
                    <a:pt x="244542" y="375169"/>
                  </a:lnTo>
                  <a:lnTo>
                    <a:pt x="244542" y="495878"/>
                  </a:lnTo>
                  <a:cubicBezTo>
                    <a:pt x="244542" y="503381"/>
                    <a:pt x="250625" y="509463"/>
                    <a:pt x="258128" y="509463"/>
                  </a:cubicBezTo>
                  <a:cubicBezTo>
                    <a:pt x="265631" y="509463"/>
                    <a:pt x="271714" y="503381"/>
                    <a:pt x="271714" y="495878"/>
                  </a:cubicBezTo>
                  <a:lnTo>
                    <a:pt x="271714" y="374965"/>
                  </a:lnTo>
                  <a:lnTo>
                    <a:pt x="380399" y="483650"/>
                  </a:lnTo>
                  <a:cubicBezTo>
                    <a:pt x="385708" y="488959"/>
                    <a:pt x="394314" y="488959"/>
                    <a:pt x="399623" y="483650"/>
                  </a:cubicBezTo>
                  <a:cubicBezTo>
                    <a:pt x="404932" y="478342"/>
                    <a:pt x="404932" y="469735"/>
                    <a:pt x="399623" y="464427"/>
                  </a:cubicBezTo>
                  <a:lnTo>
                    <a:pt x="295217" y="360021"/>
                  </a:lnTo>
                  <a:lnTo>
                    <a:pt x="502670" y="360021"/>
                  </a:lnTo>
                  <a:cubicBezTo>
                    <a:pt x="510174" y="360021"/>
                    <a:pt x="516256" y="353938"/>
                    <a:pt x="516256" y="346435"/>
                  </a:cubicBezTo>
                  <a:cubicBezTo>
                    <a:pt x="516256" y="338932"/>
                    <a:pt x="510174" y="332849"/>
                    <a:pt x="502670" y="332849"/>
                  </a:cubicBezTo>
                  <a:close/>
                </a:path>
              </a:pathLst>
            </a:custGeom>
            <a:grpFill/>
            <a:ln w="6747" cap="flat">
              <a:noFill/>
              <a:prstDash val="solid"/>
              <a:miter/>
            </a:ln>
          </p:spPr>
          <p:txBody>
            <a:bodyPr rtlCol="0" anchor="ctr"/>
            <a:lstStyle/>
            <a:p>
              <a:endParaRPr lang="de-DE" dirty="0"/>
            </a:p>
          </p:txBody>
        </p:sp>
        <p:sp>
          <p:nvSpPr>
            <p:cNvPr id="11" name="Freihandform: Form 124">
              <a:extLst>
                <a:ext uri="{FF2B5EF4-FFF2-40B4-BE49-F238E27FC236}">
                  <a16:creationId xmlns:a16="http://schemas.microsoft.com/office/drawing/2014/main" id="{06CD1F0B-082F-40CD-8202-83B298DDB798}"/>
                </a:ext>
              </a:extLst>
            </p:cNvPr>
            <p:cNvSpPr/>
            <p:nvPr/>
          </p:nvSpPr>
          <p:spPr>
            <a:xfrm>
              <a:off x="1661438" y="3951430"/>
              <a:ext cx="115478" cy="27171"/>
            </a:xfrm>
            <a:custGeom>
              <a:avLst/>
              <a:gdLst>
                <a:gd name="connsiteX0" fmla="*/ 0 w 115478"/>
                <a:gd name="connsiteY0" fmla="*/ 0 h 27171"/>
                <a:gd name="connsiteX1" fmla="*/ 115478 w 115478"/>
                <a:gd name="connsiteY1" fmla="*/ 0 h 27171"/>
                <a:gd name="connsiteX2" fmla="*/ 115478 w 115478"/>
                <a:gd name="connsiteY2" fmla="*/ 27171 h 27171"/>
                <a:gd name="connsiteX3" fmla="*/ 0 w 115478"/>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15478" h="27171">
                  <a:moveTo>
                    <a:pt x="0" y="0"/>
                  </a:moveTo>
                  <a:lnTo>
                    <a:pt x="115478" y="0"/>
                  </a:lnTo>
                  <a:lnTo>
                    <a:pt x="115478" y="27171"/>
                  </a:lnTo>
                  <a:lnTo>
                    <a:pt x="0" y="27171"/>
                  </a:lnTo>
                  <a:close/>
                </a:path>
              </a:pathLst>
            </a:custGeom>
            <a:grpFill/>
            <a:ln w="6747" cap="flat">
              <a:noFill/>
              <a:prstDash val="solid"/>
              <a:miter/>
            </a:ln>
          </p:spPr>
          <p:txBody>
            <a:bodyPr rtlCol="0" anchor="ctr"/>
            <a:lstStyle/>
            <a:p>
              <a:endParaRPr lang="de-DE" dirty="0"/>
            </a:p>
          </p:txBody>
        </p:sp>
        <p:sp>
          <p:nvSpPr>
            <p:cNvPr id="12" name="Freihandform: Form 125">
              <a:extLst>
                <a:ext uri="{FF2B5EF4-FFF2-40B4-BE49-F238E27FC236}">
                  <a16:creationId xmlns:a16="http://schemas.microsoft.com/office/drawing/2014/main" id="{8E6FCA68-54A4-42EB-91A0-B7F3E154E018}"/>
                </a:ext>
              </a:extLst>
            </p:cNvPr>
            <p:cNvSpPr/>
            <p:nvPr/>
          </p:nvSpPr>
          <p:spPr>
            <a:xfrm>
              <a:off x="1518788" y="3922900"/>
              <a:ext cx="100534" cy="82872"/>
            </a:xfrm>
            <a:custGeom>
              <a:avLst/>
              <a:gdLst>
                <a:gd name="connsiteX0" fmla="*/ 100534 w 100534"/>
                <a:gd name="connsiteY0" fmla="*/ 19020 h 82872"/>
                <a:gd name="connsiteX1" fmla="*/ 81514 w 100534"/>
                <a:gd name="connsiteY1" fmla="*/ 0 h 82872"/>
                <a:gd name="connsiteX2" fmla="*/ 36681 w 100534"/>
                <a:gd name="connsiteY2" fmla="*/ 44833 h 82872"/>
                <a:gd name="connsiteX3" fmla="*/ 19020 w 100534"/>
                <a:gd name="connsiteY3" fmla="*/ 27171 h 82872"/>
                <a:gd name="connsiteX4" fmla="*/ 0 w 100534"/>
                <a:gd name="connsiteY4" fmla="*/ 46191 h 82872"/>
                <a:gd name="connsiteX5" fmla="*/ 36681 w 100534"/>
                <a:gd name="connsiteY5" fmla="*/ 82873 h 82872"/>
                <a:gd name="connsiteX6" fmla="*/ 100534 w 100534"/>
                <a:gd name="connsiteY6" fmla="*/ 19020 h 82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34" h="82872">
                  <a:moveTo>
                    <a:pt x="100534" y="19020"/>
                  </a:moveTo>
                  <a:lnTo>
                    <a:pt x="81514" y="0"/>
                  </a:lnTo>
                  <a:lnTo>
                    <a:pt x="36681" y="44833"/>
                  </a:lnTo>
                  <a:lnTo>
                    <a:pt x="19020" y="27171"/>
                  </a:lnTo>
                  <a:lnTo>
                    <a:pt x="0" y="46191"/>
                  </a:lnTo>
                  <a:lnTo>
                    <a:pt x="36681" y="82873"/>
                  </a:lnTo>
                  <a:lnTo>
                    <a:pt x="100534" y="19020"/>
                  </a:lnTo>
                  <a:close/>
                </a:path>
              </a:pathLst>
            </a:custGeom>
            <a:grpFill/>
            <a:ln w="6747" cap="flat">
              <a:noFill/>
              <a:prstDash val="solid"/>
              <a:miter/>
            </a:ln>
          </p:spPr>
          <p:txBody>
            <a:bodyPr rtlCol="0" anchor="ctr"/>
            <a:lstStyle/>
            <a:p>
              <a:endParaRPr lang="de-DE" dirty="0"/>
            </a:p>
          </p:txBody>
        </p:sp>
        <p:sp>
          <p:nvSpPr>
            <p:cNvPr id="13" name="Freihandform: Form 126">
              <a:extLst>
                <a:ext uri="{FF2B5EF4-FFF2-40B4-BE49-F238E27FC236}">
                  <a16:creationId xmlns:a16="http://schemas.microsoft.com/office/drawing/2014/main" id="{73FDF44F-0908-481E-AD6D-E88FD18AC8CF}"/>
                </a:ext>
              </a:extLst>
            </p:cNvPr>
            <p:cNvSpPr/>
            <p:nvPr/>
          </p:nvSpPr>
          <p:spPr>
            <a:xfrm>
              <a:off x="1661438" y="4039737"/>
              <a:ext cx="115478" cy="27171"/>
            </a:xfrm>
            <a:custGeom>
              <a:avLst/>
              <a:gdLst>
                <a:gd name="connsiteX0" fmla="*/ 0 w 115478"/>
                <a:gd name="connsiteY0" fmla="*/ 0 h 27171"/>
                <a:gd name="connsiteX1" fmla="*/ 115478 w 115478"/>
                <a:gd name="connsiteY1" fmla="*/ 0 h 27171"/>
                <a:gd name="connsiteX2" fmla="*/ 115478 w 115478"/>
                <a:gd name="connsiteY2" fmla="*/ 27171 h 27171"/>
                <a:gd name="connsiteX3" fmla="*/ 0 w 115478"/>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15478" h="27171">
                  <a:moveTo>
                    <a:pt x="0" y="0"/>
                  </a:moveTo>
                  <a:lnTo>
                    <a:pt x="115478" y="0"/>
                  </a:lnTo>
                  <a:lnTo>
                    <a:pt x="115478" y="27171"/>
                  </a:lnTo>
                  <a:lnTo>
                    <a:pt x="0" y="27171"/>
                  </a:lnTo>
                  <a:close/>
                </a:path>
              </a:pathLst>
            </a:custGeom>
            <a:grpFill/>
            <a:ln w="6747" cap="flat">
              <a:noFill/>
              <a:prstDash val="solid"/>
              <a:miter/>
            </a:ln>
          </p:spPr>
          <p:txBody>
            <a:bodyPr rtlCol="0" anchor="ctr"/>
            <a:lstStyle/>
            <a:p>
              <a:endParaRPr lang="de-DE" dirty="0"/>
            </a:p>
          </p:txBody>
        </p:sp>
        <p:sp>
          <p:nvSpPr>
            <p:cNvPr id="14" name="Freihandform: Form 127">
              <a:extLst>
                <a:ext uri="{FF2B5EF4-FFF2-40B4-BE49-F238E27FC236}">
                  <a16:creationId xmlns:a16="http://schemas.microsoft.com/office/drawing/2014/main" id="{1DA088DD-CF86-4F4E-A09C-18609508C746}"/>
                </a:ext>
              </a:extLst>
            </p:cNvPr>
            <p:cNvSpPr/>
            <p:nvPr/>
          </p:nvSpPr>
          <p:spPr>
            <a:xfrm>
              <a:off x="1518788" y="4011207"/>
              <a:ext cx="100534" cy="82872"/>
            </a:xfrm>
            <a:custGeom>
              <a:avLst/>
              <a:gdLst>
                <a:gd name="connsiteX0" fmla="*/ 100534 w 100534"/>
                <a:gd name="connsiteY0" fmla="*/ 19020 h 82872"/>
                <a:gd name="connsiteX1" fmla="*/ 81514 w 100534"/>
                <a:gd name="connsiteY1" fmla="*/ 0 h 82872"/>
                <a:gd name="connsiteX2" fmla="*/ 36681 w 100534"/>
                <a:gd name="connsiteY2" fmla="*/ 44833 h 82872"/>
                <a:gd name="connsiteX3" fmla="*/ 19020 w 100534"/>
                <a:gd name="connsiteY3" fmla="*/ 27171 h 82872"/>
                <a:gd name="connsiteX4" fmla="*/ 0 w 100534"/>
                <a:gd name="connsiteY4" fmla="*/ 46191 h 82872"/>
                <a:gd name="connsiteX5" fmla="*/ 36681 w 100534"/>
                <a:gd name="connsiteY5" fmla="*/ 82873 h 82872"/>
                <a:gd name="connsiteX6" fmla="*/ 100534 w 100534"/>
                <a:gd name="connsiteY6" fmla="*/ 19020 h 82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34" h="82872">
                  <a:moveTo>
                    <a:pt x="100534" y="19020"/>
                  </a:moveTo>
                  <a:lnTo>
                    <a:pt x="81514" y="0"/>
                  </a:lnTo>
                  <a:lnTo>
                    <a:pt x="36681" y="44833"/>
                  </a:lnTo>
                  <a:lnTo>
                    <a:pt x="19020" y="27171"/>
                  </a:lnTo>
                  <a:lnTo>
                    <a:pt x="0" y="46191"/>
                  </a:lnTo>
                  <a:lnTo>
                    <a:pt x="36681" y="82873"/>
                  </a:lnTo>
                  <a:lnTo>
                    <a:pt x="100534" y="19020"/>
                  </a:lnTo>
                  <a:close/>
                </a:path>
              </a:pathLst>
            </a:custGeom>
            <a:grpFill/>
            <a:ln w="6747" cap="flat">
              <a:noFill/>
              <a:prstDash val="solid"/>
              <a:miter/>
            </a:ln>
          </p:spPr>
          <p:txBody>
            <a:bodyPr rtlCol="0" anchor="ctr"/>
            <a:lstStyle/>
            <a:p>
              <a:endParaRPr lang="de-DE" dirty="0"/>
            </a:p>
          </p:txBody>
        </p:sp>
      </p:grpSp>
      <p:sp>
        <p:nvSpPr>
          <p:cNvPr id="6" name="Foliennummernplatzhalter 5"/>
          <p:cNvSpPr>
            <a:spLocks noGrp="1"/>
          </p:cNvSpPr>
          <p:nvPr>
            <p:ph type="sldNum" sz="quarter" idx="12"/>
          </p:nvPr>
        </p:nvSpPr>
        <p:spPr/>
        <p:txBody>
          <a:bodyPr/>
          <a:lstStyle/>
          <a:p>
            <a:fld id="{220551C3-A462-45EE-8D4B-53AADAADD6D4}" type="slidenum">
              <a:rPr lang="de-DE" smtClean="0"/>
              <a:t>1</a:t>
            </a:fld>
            <a:endParaRPr lang="de-DE" dirty="0"/>
          </a:p>
        </p:txBody>
      </p:sp>
      <p:sp>
        <p:nvSpPr>
          <p:cNvPr id="2" name="Titel 1"/>
          <p:cNvSpPr>
            <a:spLocks noGrp="1"/>
          </p:cNvSpPr>
          <p:nvPr>
            <p:ph type="ctrTitle"/>
          </p:nvPr>
        </p:nvSpPr>
        <p:spPr/>
        <p:txBody>
          <a:bodyPr>
            <a:normAutofit/>
          </a:bodyPr>
          <a:lstStyle/>
          <a:p>
            <a:r>
              <a:rPr lang="de-DE" sz="4800"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Java </a:t>
            </a:r>
            <a:r>
              <a:rPr lang="de-DE" sz="4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Programmierung</a:t>
            </a:r>
            <a:endParaRPr lang="de-DE" sz="4800" dirty="0"/>
          </a:p>
        </p:txBody>
      </p:sp>
      <p:sp>
        <p:nvSpPr>
          <p:cNvPr id="3" name="Untertitel 2"/>
          <p:cNvSpPr>
            <a:spLocks noGrp="1"/>
          </p:cNvSpPr>
          <p:nvPr>
            <p:ph type="subTitle" idx="1"/>
          </p:nvPr>
        </p:nvSpPr>
        <p:spPr/>
        <p:txBody>
          <a:bodyPr/>
          <a:lstStyle/>
          <a:p>
            <a:r>
              <a:rPr lang="de-DE" dirty="0" smtClean="0">
                <a:latin typeface="Arial" panose="020B0604020202020204" pitchFamily="34" charset="0"/>
                <a:cs typeface="Arial" panose="020B0604020202020204" pitchFamily="34" charset="0"/>
              </a:rPr>
              <a:t>Datenbankverbindung mit </a:t>
            </a:r>
            <a:r>
              <a:rPr lang="de-DE" sz="2800" b="1" i="1" dirty="0" err="1"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IntelliJ</a:t>
            </a:r>
            <a:r>
              <a:rPr lang="de-DE" sz="2800" dirty="0" smtClean="0">
                <a:latin typeface="Arial" panose="020B0604020202020204" pitchFamily="34" charset="0"/>
                <a:cs typeface="Arial" panose="020B0604020202020204" pitchFamily="34" charset="0"/>
              </a:rPr>
              <a:t> und </a:t>
            </a:r>
            <a:r>
              <a:rPr lang="de-DE" sz="2800" b="1" i="1"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MySQL</a:t>
            </a:r>
            <a:endParaRPr lang="de-DE" sz="2800" b="1" i="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7" name="Grafik 20" descr="Bücher">
            <a:extLst>
              <a:ext uri="{FF2B5EF4-FFF2-40B4-BE49-F238E27FC236}">
                <a16:creationId xmlns:a16="http://schemas.microsoft.com/office/drawing/2014/main" id="{43D00B49-42D5-4163-8350-6A7AE38C9954}"/>
              </a:ext>
            </a:extLst>
          </p:cNvPr>
          <p:cNvSpPr/>
          <p:nvPr/>
        </p:nvSpPr>
        <p:spPr>
          <a:xfrm>
            <a:off x="10877258" y="5267628"/>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endParaRPr lang="de-DE" dirty="0"/>
          </a:p>
        </p:txBody>
      </p:sp>
      <p:sp>
        <p:nvSpPr>
          <p:cNvPr id="8" name="Datumsplatzhalter 7"/>
          <p:cNvSpPr>
            <a:spLocks noGrp="1"/>
          </p:cNvSpPr>
          <p:nvPr>
            <p:ph type="dt" sz="half" idx="10"/>
          </p:nvPr>
        </p:nvSpPr>
        <p:spPr/>
        <p:txBody>
          <a:bodyPr/>
          <a:lstStyle/>
          <a:p>
            <a:fld id="{0D7AE515-24EA-4818-BA84-4333AECED3CD}" type="datetime1">
              <a:rPr lang="de-DE" smtClean="0"/>
              <a:t>17.09.2021</a:t>
            </a:fld>
            <a:endParaRPr lang="de-DE" dirty="0"/>
          </a:p>
        </p:txBody>
      </p:sp>
      <p:sp>
        <p:nvSpPr>
          <p:cNvPr id="15" name="Fußzeilenplatzhalter 14"/>
          <p:cNvSpPr>
            <a:spLocks noGrp="1"/>
          </p:cNvSpPr>
          <p:nvPr>
            <p:ph type="ftr" sz="quarter" idx="11"/>
          </p:nvPr>
        </p:nvSpPr>
        <p:spPr/>
        <p:txBody>
          <a:bodyPr/>
          <a:lstStyle/>
          <a:p>
            <a:r>
              <a:rPr lang="de-DE" smtClean="0"/>
              <a:t>Datenbankverbindung mit IntelliJ und MySQL</a:t>
            </a:r>
            <a:endParaRPr lang="de-DE" dirty="0" smtClean="0"/>
          </a:p>
        </p:txBody>
      </p:sp>
    </p:spTree>
    <p:extLst>
      <p:ext uri="{BB962C8B-B14F-4D97-AF65-F5344CB8AC3E}">
        <p14:creationId xmlns:p14="http://schemas.microsoft.com/office/powerpoint/2010/main" val="3148954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220551C3-A462-45EE-8D4B-53AADAADD6D4}" type="slidenum">
              <a:rPr lang="de-DE" smtClean="0"/>
              <a:t>2</a:t>
            </a:fld>
            <a:endParaRPr lang="de-DE" dirty="0"/>
          </a:p>
        </p:txBody>
      </p:sp>
      <p:sp>
        <p:nvSpPr>
          <p:cNvPr id="51" name="Textplatzhalter 50"/>
          <p:cNvSpPr>
            <a:spLocks noGrp="1"/>
          </p:cNvSpPr>
          <p:nvPr>
            <p:ph type="body" sz="quarter" idx="13"/>
          </p:nvPr>
        </p:nvSpPr>
        <p:spPr>
          <a:xfrm>
            <a:off x="1218456" y="2066094"/>
            <a:ext cx="2149475" cy="706356"/>
          </a:xfrm>
        </p:spPr>
        <p:txBody>
          <a:bodyPr>
            <a:normAutofit lnSpcReduction="10000"/>
          </a:bodyPr>
          <a:lstStyle/>
          <a:p>
            <a:r>
              <a:rPr lang="de-DE" dirty="0" smtClean="0"/>
              <a:t>01</a:t>
            </a:r>
            <a:endParaRPr lang="de-DE" dirty="0"/>
          </a:p>
        </p:txBody>
      </p:sp>
      <p:sp>
        <p:nvSpPr>
          <p:cNvPr id="52" name="Textplatzhalter 51"/>
          <p:cNvSpPr>
            <a:spLocks noGrp="1"/>
          </p:cNvSpPr>
          <p:nvPr>
            <p:ph type="body" sz="quarter" idx="14"/>
          </p:nvPr>
        </p:nvSpPr>
        <p:spPr>
          <a:xfrm>
            <a:off x="768263" y="2826782"/>
            <a:ext cx="3049860" cy="972997"/>
          </a:xfrm>
        </p:spPr>
        <p:txBody>
          <a:bodyPr>
            <a:normAutofit/>
          </a:bodyPr>
          <a:lstStyle/>
          <a:p>
            <a:r>
              <a:rPr lang="de-DE" dirty="0" smtClean="0"/>
              <a:t>XAMPP</a:t>
            </a:r>
          </a:p>
        </p:txBody>
      </p:sp>
      <p:sp>
        <p:nvSpPr>
          <p:cNvPr id="53" name="Textplatzhalter 52"/>
          <p:cNvSpPr>
            <a:spLocks noGrp="1"/>
          </p:cNvSpPr>
          <p:nvPr>
            <p:ph type="body" sz="quarter" idx="15"/>
          </p:nvPr>
        </p:nvSpPr>
        <p:spPr>
          <a:xfrm>
            <a:off x="1187515" y="3963207"/>
            <a:ext cx="2211355" cy="1166326"/>
          </a:xfrm>
        </p:spPr>
        <p:txBody>
          <a:bodyPr>
            <a:normAutofit/>
          </a:bodyPr>
          <a:lstStyle/>
          <a:p>
            <a:pPr lvl="0"/>
            <a:r>
              <a:rPr lang="de-DE" dirty="0" smtClean="0"/>
              <a:t>1. Download und Installation</a:t>
            </a:r>
          </a:p>
        </p:txBody>
      </p:sp>
      <p:sp>
        <p:nvSpPr>
          <p:cNvPr id="54" name="Textplatzhalter 53"/>
          <p:cNvSpPr>
            <a:spLocks noGrp="1"/>
          </p:cNvSpPr>
          <p:nvPr>
            <p:ph type="body" sz="quarter" idx="16"/>
          </p:nvPr>
        </p:nvSpPr>
        <p:spPr>
          <a:xfrm>
            <a:off x="4525166" y="1944499"/>
            <a:ext cx="2149475" cy="706356"/>
          </a:xfrm>
        </p:spPr>
        <p:txBody>
          <a:bodyPr>
            <a:normAutofit lnSpcReduction="10000"/>
          </a:bodyPr>
          <a:lstStyle/>
          <a:p>
            <a:r>
              <a:rPr lang="de-DE" dirty="0" smtClean="0"/>
              <a:t>02</a:t>
            </a:r>
            <a:endParaRPr lang="de-DE" dirty="0"/>
          </a:p>
        </p:txBody>
      </p:sp>
      <p:sp>
        <p:nvSpPr>
          <p:cNvPr id="55" name="Textplatzhalter 54"/>
          <p:cNvSpPr>
            <a:spLocks noGrp="1"/>
          </p:cNvSpPr>
          <p:nvPr>
            <p:ph type="body" sz="quarter" idx="17"/>
          </p:nvPr>
        </p:nvSpPr>
        <p:spPr>
          <a:xfrm>
            <a:off x="3968543" y="2668297"/>
            <a:ext cx="3262720" cy="1157910"/>
          </a:xfrm>
        </p:spPr>
        <p:txBody>
          <a:bodyPr>
            <a:normAutofit/>
          </a:bodyPr>
          <a:lstStyle/>
          <a:p>
            <a:r>
              <a:rPr lang="de-DE" sz="2200" dirty="0" smtClean="0"/>
              <a:t>MySQL Connector</a:t>
            </a:r>
          </a:p>
          <a:p>
            <a:r>
              <a:rPr lang="de-DE" sz="2200" dirty="0" smtClean="0"/>
              <a:t>und </a:t>
            </a:r>
            <a:r>
              <a:rPr lang="de-DE" sz="2200" dirty="0" err="1" smtClean="0"/>
              <a:t>IntelliJ</a:t>
            </a:r>
            <a:endParaRPr lang="de-DE" sz="2200" dirty="0" smtClean="0"/>
          </a:p>
        </p:txBody>
      </p:sp>
      <p:sp>
        <p:nvSpPr>
          <p:cNvPr id="56" name="Textplatzhalter 55"/>
          <p:cNvSpPr>
            <a:spLocks noGrp="1"/>
          </p:cNvSpPr>
          <p:nvPr>
            <p:ph type="body" sz="quarter" idx="18"/>
          </p:nvPr>
        </p:nvSpPr>
        <p:spPr>
          <a:xfrm>
            <a:off x="4149266" y="3859054"/>
            <a:ext cx="2901275" cy="1488048"/>
          </a:xfrm>
        </p:spPr>
        <p:txBody>
          <a:bodyPr/>
          <a:lstStyle/>
          <a:p>
            <a:r>
              <a:rPr lang="de-DE" dirty="0"/>
              <a:t>2</a:t>
            </a:r>
            <a:r>
              <a:rPr lang="de-DE" dirty="0" smtClean="0"/>
              <a:t>.1 Download</a:t>
            </a:r>
          </a:p>
          <a:p>
            <a:r>
              <a:rPr lang="de-DE" dirty="0" smtClean="0"/>
              <a:t>2.2 Einrichten der Entwicklungsumgebung</a:t>
            </a:r>
          </a:p>
          <a:p>
            <a:endParaRPr lang="de-DE" dirty="0"/>
          </a:p>
        </p:txBody>
      </p:sp>
      <p:sp>
        <p:nvSpPr>
          <p:cNvPr id="66" name="Titel 65"/>
          <p:cNvSpPr>
            <a:spLocks noGrp="1"/>
          </p:cNvSpPr>
          <p:nvPr>
            <p:ph type="title"/>
          </p:nvPr>
        </p:nvSpPr>
        <p:spPr/>
        <p:txBody>
          <a:bodyPr>
            <a:normAutofit fontScale="90000"/>
          </a:bodyPr>
          <a:lstStyle/>
          <a:p>
            <a:r>
              <a:rPr lang="de-DE" dirty="0" smtClean="0"/>
              <a:t>Themenübersicht</a:t>
            </a:r>
            <a:endParaRPr lang="de-DE" dirty="0"/>
          </a:p>
        </p:txBody>
      </p:sp>
      <p:grpSp>
        <p:nvGrpSpPr>
          <p:cNvPr id="21" name="Grafik 58" descr="Liste">
            <a:extLst>
              <a:ext uri="{FF2B5EF4-FFF2-40B4-BE49-F238E27FC236}">
                <a16:creationId xmlns:a16="http://schemas.microsoft.com/office/drawing/2014/main" id="{547CCC1F-DBD8-4611-A9E2-BACF5D8BB224}"/>
              </a:ext>
            </a:extLst>
          </p:cNvPr>
          <p:cNvGrpSpPr/>
          <p:nvPr/>
        </p:nvGrpSpPr>
        <p:grpSpPr>
          <a:xfrm>
            <a:off x="10907083" y="1843634"/>
            <a:ext cx="1273805" cy="1273805"/>
            <a:chOff x="2281159" y="4358168"/>
            <a:chExt cx="652113" cy="652113"/>
          </a:xfrm>
          <a:solidFill>
            <a:srgbClr val="0071B2"/>
          </a:solidFill>
        </p:grpSpPr>
        <p:sp>
          <p:nvSpPr>
            <p:cNvPr id="22" name="Freihandform: Form 145">
              <a:extLst>
                <a:ext uri="{FF2B5EF4-FFF2-40B4-BE49-F238E27FC236}">
                  <a16:creationId xmlns:a16="http://schemas.microsoft.com/office/drawing/2014/main" id="{6664AC2F-405B-4FC0-81DE-E00A017650CA}"/>
                </a:ext>
              </a:extLst>
            </p:cNvPr>
            <p:cNvSpPr/>
            <p:nvPr/>
          </p:nvSpPr>
          <p:spPr>
            <a:xfrm>
              <a:off x="2396637" y="4412510"/>
              <a:ext cx="421156" cy="543427"/>
            </a:xfrm>
            <a:custGeom>
              <a:avLst/>
              <a:gdLst>
                <a:gd name="connsiteX0" fmla="*/ 40757 w 421156"/>
                <a:gd name="connsiteY0" fmla="*/ 40757 h 543427"/>
                <a:gd name="connsiteX1" fmla="*/ 380399 w 421156"/>
                <a:gd name="connsiteY1" fmla="*/ 40757 h 543427"/>
                <a:gd name="connsiteX2" fmla="*/ 380399 w 421156"/>
                <a:gd name="connsiteY2" fmla="*/ 502670 h 543427"/>
                <a:gd name="connsiteX3" fmla="*/ 40757 w 421156"/>
                <a:gd name="connsiteY3" fmla="*/ 502670 h 543427"/>
                <a:gd name="connsiteX4" fmla="*/ 40757 w 421156"/>
                <a:gd name="connsiteY4" fmla="*/ 40757 h 543427"/>
                <a:gd name="connsiteX5" fmla="*/ 0 w 421156"/>
                <a:gd name="connsiteY5" fmla="*/ 543428 h 543427"/>
                <a:gd name="connsiteX6" fmla="*/ 421156 w 421156"/>
                <a:gd name="connsiteY6" fmla="*/ 543428 h 543427"/>
                <a:gd name="connsiteX7" fmla="*/ 421156 w 421156"/>
                <a:gd name="connsiteY7" fmla="*/ 0 h 543427"/>
                <a:gd name="connsiteX8" fmla="*/ 0 w 421156"/>
                <a:gd name="connsiteY8" fmla="*/ 0 h 543427"/>
                <a:gd name="connsiteX9" fmla="*/ 0 w 421156"/>
                <a:gd name="connsiteY9" fmla="*/ 543428 h 543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1156" h="543427">
                  <a:moveTo>
                    <a:pt x="40757" y="40757"/>
                  </a:moveTo>
                  <a:lnTo>
                    <a:pt x="380399" y="40757"/>
                  </a:lnTo>
                  <a:lnTo>
                    <a:pt x="380399" y="502670"/>
                  </a:lnTo>
                  <a:lnTo>
                    <a:pt x="40757" y="502670"/>
                  </a:lnTo>
                  <a:lnTo>
                    <a:pt x="40757" y="40757"/>
                  </a:lnTo>
                  <a:close/>
                  <a:moveTo>
                    <a:pt x="0" y="543428"/>
                  </a:moveTo>
                  <a:lnTo>
                    <a:pt x="421156" y="543428"/>
                  </a:lnTo>
                  <a:lnTo>
                    <a:pt x="421156" y="0"/>
                  </a:lnTo>
                  <a:lnTo>
                    <a:pt x="0" y="0"/>
                  </a:lnTo>
                  <a:lnTo>
                    <a:pt x="0" y="543428"/>
                  </a:lnTo>
                  <a:close/>
                </a:path>
              </a:pathLst>
            </a:custGeom>
            <a:grpFill/>
            <a:ln w="6747" cap="flat">
              <a:noFill/>
              <a:prstDash val="solid"/>
              <a:miter/>
            </a:ln>
          </p:spPr>
          <p:txBody>
            <a:bodyPr rtlCol="0" anchor="ctr"/>
            <a:lstStyle/>
            <a:p>
              <a:endParaRPr lang="de-DE" dirty="0"/>
            </a:p>
          </p:txBody>
        </p:sp>
        <p:sp>
          <p:nvSpPr>
            <p:cNvPr id="23" name="Freihandform: Form 146">
              <a:extLst>
                <a:ext uri="{FF2B5EF4-FFF2-40B4-BE49-F238E27FC236}">
                  <a16:creationId xmlns:a16="http://schemas.microsoft.com/office/drawing/2014/main" id="{EF7386C6-D559-41AF-B81E-BA7651AC8BE0}"/>
                </a:ext>
              </a:extLst>
            </p:cNvPr>
            <p:cNvSpPr/>
            <p:nvPr/>
          </p:nvSpPr>
          <p:spPr>
            <a:xfrm>
              <a:off x="2484944" y="4494024"/>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dirty="0"/>
            </a:p>
          </p:txBody>
        </p:sp>
        <p:sp>
          <p:nvSpPr>
            <p:cNvPr id="24" name="Freihandform: Form 147">
              <a:extLst>
                <a:ext uri="{FF2B5EF4-FFF2-40B4-BE49-F238E27FC236}">
                  <a16:creationId xmlns:a16="http://schemas.microsoft.com/office/drawing/2014/main" id="{8BEEC73A-E773-4F9C-86C2-428BF1E87550}"/>
                </a:ext>
              </a:extLst>
            </p:cNvPr>
            <p:cNvSpPr/>
            <p:nvPr/>
          </p:nvSpPr>
          <p:spPr>
            <a:xfrm>
              <a:off x="2593629" y="4507610"/>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dirty="0"/>
            </a:p>
          </p:txBody>
        </p:sp>
        <p:sp>
          <p:nvSpPr>
            <p:cNvPr id="25" name="Freihandform: Form 148">
              <a:extLst>
                <a:ext uri="{FF2B5EF4-FFF2-40B4-BE49-F238E27FC236}">
                  <a16:creationId xmlns:a16="http://schemas.microsoft.com/office/drawing/2014/main" id="{A1CC3FBF-5A4C-40F0-89F7-9DEE83588D02}"/>
                </a:ext>
              </a:extLst>
            </p:cNvPr>
            <p:cNvSpPr/>
            <p:nvPr/>
          </p:nvSpPr>
          <p:spPr>
            <a:xfrm>
              <a:off x="2484944" y="4602710"/>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dirty="0"/>
            </a:p>
          </p:txBody>
        </p:sp>
        <p:sp>
          <p:nvSpPr>
            <p:cNvPr id="26" name="Freihandform: Form 149">
              <a:extLst>
                <a:ext uri="{FF2B5EF4-FFF2-40B4-BE49-F238E27FC236}">
                  <a16:creationId xmlns:a16="http://schemas.microsoft.com/office/drawing/2014/main" id="{8C3B8F1C-542E-4F97-BB7C-47557819042A}"/>
                </a:ext>
              </a:extLst>
            </p:cNvPr>
            <p:cNvSpPr/>
            <p:nvPr/>
          </p:nvSpPr>
          <p:spPr>
            <a:xfrm>
              <a:off x="2593629" y="4616296"/>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dirty="0"/>
            </a:p>
          </p:txBody>
        </p:sp>
        <p:sp>
          <p:nvSpPr>
            <p:cNvPr id="27" name="Freihandform: Form 150">
              <a:extLst>
                <a:ext uri="{FF2B5EF4-FFF2-40B4-BE49-F238E27FC236}">
                  <a16:creationId xmlns:a16="http://schemas.microsoft.com/office/drawing/2014/main" id="{1E31D50E-65E2-46B8-AEE8-964626B492B8}"/>
                </a:ext>
              </a:extLst>
            </p:cNvPr>
            <p:cNvSpPr/>
            <p:nvPr/>
          </p:nvSpPr>
          <p:spPr>
            <a:xfrm>
              <a:off x="2484944" y="4711395"/>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dirty="0"/>
            </a:p>
          </p:txBody>
        </p:sp>
        <p:sp>
          <p:nvSpPr>
            <p:cNvPr id="28" name="Freihandform: Form 151">
              <a:extLst>
                <a:ext uri="{FF2B5EF4-FFF2-40B4-BE49-F238E27FC236}">
                  <a16:creationId xmlns:a16="http://schemas.microsoft.com/office/drawing/2014/main" id="{4227EF37-38A4-4DA2-BD2F-9BFCD22BAB7F}"/>
                </a:ext>
              </a:extLst>
            </p:cNvPr>
            <p:cNvSpPr/>
            <p:nvPr/>
          </p:nvSpPr>
          <p:spPr>
            <a:xfrm>
              <a:off x="2593629" y="4724981"/>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dirty="0"/>
            </a:p>
          </p:txBody>
        </p:sp>
        <p:sp>
          <p:nvSpPr>
            <p:cNvPr id="29" name="Freihandform: Form 152">
              <a:extLst>
                <a:ext uri="{FF2B5EF4-FFF2-40B4-BE49-F238E27FC236}">
                  <a16:creationId xmlns:a16="http://schemas.microsoft.com/office/drawing/2014/main" id="{FA00B24A-F304-43DE-9E81-BCD66CA79365}"/>
                </a:ext>
              </a:extLst>
            </p:cNvPr>
            <p:cNvSpPr/>
            <p:nvPr/>
          </p:nvSpPr>
          <p:spPr>
            <a:xfrm>
              <a:off x="2484944" y="4820081"/>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dirty="0"/>
            </a:p>
          </p:txBody>
        </p:sp>
        <p:sp>
          <p:nvSpPr>
            <p:cNvPr id="30" name="Freihandform: Form 153">
              <a:extLst>
                <a:ext uri="{FF2B5EF4-FFF2-40B4-BE49-F238E27FC236}">
                  <a16:creationId xmlns:a16="http://schemas.microsoft.com/office/drawing/2014/main" id="{514824B0-14D8-44FE-BA7D-42C30D4CD661}"/>
                </a:ext>
              </a:extLst>
            </p:cNvPr>
            <p:cNvSpPr/>
            <p:nvPr/>
          </p:nvSpPr>
          <p:spPr>
            <a:xfrm>
              <a:off x="2593629" y="4833667"/>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dirty="0"/>
            </a:p>
          </p:txBody>
        </p:sp>
      </p:grpSp>
      <p:sp>
        <p:nvSpPr>
          <p:cNvPr id="6" name="Datumsplatzhalter 5"/>
          <p:cNvSpPr>
            <a:spLocks noGrp="1"/>
          </p:cNvSpPr>
          <p:nvPr>
            <p:ph type="dt" sz="half" idx="10"/>
          </p:nvPr>
        </p:nvSpPr>
        <p:spPr/>
        <p:txBody>
          <a:bodyPr/>
          <a:lstStyle/>
          <a:p>
            <a:fld id="{1EF30562-D03D-450A-B04E-4437560EF1AC}" type="datetime1">
              <a:rPr lang="de-DE" smtClean="0"/>
              <a:t>17.09.2021</a:t>
            </a:fld>
            <a:endParaRPr lang="de-DE" dirty="0"/>
          </a:p>
        </p:txBody>
      </p:sp>
      <p:sp>
        <p:nvSpPr>
          <p:cNvPr id="7" name="Fußzeilenplatzhalter 6"/>
          <p:cNvSpPr>
            <a:spLocks noGrp="1"/>
          </p:cNvSpPr>
          <p:nvPr>
            <p:ph type="ftr" sz="quarter" idx="11"/>
          </p:nvPr>
        </p:nvSpPr>
        <p:spPr/>
        <p:txBody>
          <a:bodyPr/>
          <a:lstStyle/>
          <a:p>
            <a:r>
              <a:rPr lang="de-DE" smtClean="0">
                <a:latin typeface="+mj-lt"/>
                <a:cs typeface="Arial" panose="020B0604020202020204" pitchFamily="34" charset="0"/>
              </a:rPr>
              <a:t>Datenbankverbindung mit IntelliJ und MySQL</a:t>
            </a:r>
            <a:endParaRPr lang="de-DE" dirty="0">
              <a:latin typeface="+mj-lt"/>
              <a:cs typeface="Arial" panose="020B0604020202020204" pitchFamily="34" charset="0"/>
            </a:endParaRPr>
          </a:p>
        </p:txBody>
      </p:sp>
      <p:sp>
        <p:nvSpPr>
          <p:cNvPr id="31" name="Textplatzhalter 53"/>
          <p:cNvSpPr>
            <a:spLocks noGrp="1"/>
          </p:cNvSpPr>
          <p:nvPr>
            <p:ph type="body" sz="quarter" idx="16"/>
          </p:nvPr>
        </p:nvSpPr>
        <p:spPr>
          <a:xfrm>
            <a:off x="7845618" y="2048652"/>
            <a:ext cx="2149475" cy="706356"/>
          </a:xfrm>
        </p:spPr>
        <p:txBody>
          <a:bodyPr>
            <a:normAutofit lnSpcReduction="10000"/>
          </a:bodyPr>
          <a:lstStyle/>
          <a:p>
            <a:r>
              <a:rPr lang="de-DE" dirty="0" smtClean="0"/>
              <a:t>03</a:t>
            </a:r>
            <a:endParaRPr lang="de-DE" dirty="0"/>
          </a:p>
        </p:txBody>
      </p:sp>
      <p:sp>
        <p:nvSpPr>
          <p:cNvPr id="32" name="Textplatzhalter 54"/>
          <p:cNvSpPr>
            <a:spLocks noGrp="1"/>
          </p:cNvSpPr>
          <p:nvPr>
            <p:ph type="body" sz="quarter" idx="17"/>
          </p:nvPr>
        </p:nvSpPr>
        <p:spPr>
          <a:xfrm>
            <a:off x="7284338" y="2772450"/>
            <a:ext cx="3262720" cy="1157910"/>
          </a:xfrm>
        </p:spPr>
        <p:txBody>
          <a:bodyPr>
            <a:normAutofit/>
          </a:bodyPr>
          <a:lstStyle/>
          <a:p>
            <a:r>
              <a:rPr lang="de-DE" sz="2200" dirty="0" smtClean="0"/>
              <a:t>PHP </a:t>
            </a:r>
            <a:r>
              <a:rPr lang="de-DE" sz="2200" dirty="0" err="1" smtClean="0"/>
              <a:t>My</a:t>
            </a:r>
            <a:r>
              <a:rPr lang="de-DE" sz="2200" dirty="0" smtClean="0"/>
              <a:t> Admin</a:t>
            </a:r>
          </a:p>
          <a:p>
            <a:r>
              <a:rPr lang="de-DE" sz="2200" dirty="0" smtClean="0"/>
              <a:t>und </a:t>
            </a:r>
            <a:r>
              <a:rPr lang="de-DE" sz="2200" dirty="0" err="1" smtClean="0"/>
              <a:t>IntelliJ</a:t>
            </a:r>
            <a:endParaRPr lang="de-DE" sz="2200" dirty="0" smtClean="0"/>
          </a:p>
        </p:txBody>
      </p:sp>
      <p:sp>
        <p:nvSpPr>
          <p:cNvPr id="33" name="Textplatzhalter 55"/>
          <p:cNvSpPr>
            <a:spLocks noGrp="1"/>
          </p:cNvSpPr>
          <p:nvPr>
            <p:ph type="body" sz="quarter" idx="18"/>
          </p:nvPr>
        </p:nvSpPr>
        <p:spPr>
          <a:xfrm>
            <a:off x="7465061" y="3963207"/>
            <a:ext cx="2901275" cy="1488048"/>
          </a:xfrm>
        </p:spPr>
        <p:txBody>
          <a:bodyPr/>
          <a:lstStyle/>
          <a:p>
            <a:r>
              <a:rPr lang="de-DE" dirty="0" smtClean="0"/>
              <a:t>3.1 Datenbank in PHP </a:t>
            </a:r>
            <a:r>
              <a:rPr lang="de-DE" dirty="0" err="1" smtClean="0"/>
              <a:t>My</a:t>
            </a:r>
            <a:r>
              <a:rPr lang="de-DE" dirty="0" smtClean="0"/>
              <a:t> Admin erstellen</a:t>
            </a:r>
          </a:p>
          <a:p>
            <a:r>
              <a:rPr lang="de-DE" dirty="0" smtClean="0"/>
              <a:t>3.2 Datenbankabfrage </a:t>
            </a:r>
            <a:br>
              <a:rPr lang="de-DE" dirty="0" smtClean="0"/>
            </a:br>
            <a:r>
              <a:rPr lang="de-DE" dirty="0" smtClean="0"/>
              <a:t>in Java</a:t>
            </a:r>
          </a:p>
          <a:p>
            <a:endParaRPr lang="de-DE" dirty="0"/>
          </a:p>
        </p:txBody>
      </p:sp>
    </p:spTree>
    <p:extLst>
      <p:ext uri="{BB962C8B-B14F-4D97-AF65-F5344CB8AC3E}">
        <p14:creationId xmlns:p14="http://schemas.microsoft.com/office/powerpoint/2010/main" val="5810790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8F45942B-0811-4010-88A2-05988EB0E120}"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latin typeface="+mj-lt"/>
                <a:cs typeface="Arial" panose="020B0604020202020204" pitchFamily="34" charset="0"/>
              </a:rPr>
              <a:t>Datenbankverbindung mit IntelliJ und MySQL</a:t>
            </a:r>
            <a:endParaRPr lang="de-DE" sz="1400" b="1" i="1" u="sng" dirty="0">
              <a:effectLst>
                <a:outerShdw blurRad="38100" dist="38100" dir="2700000" algn="tl">
                  <a:srgbClr val="000000">
                    <a:alpha val="43137"/>
                  </a:srgbClr>
                </a:outerShdw>
              </a:effectLst>
              <a:latin typeface="+mj-lt"/>
              <a:cs typeface="Arial" panose="020B0604020202020204" pitchFamily="34" charset="0"/>
            </a:endParaRPr>
          </a:p>
        </p:txBody>
      </p:sp>
      <p:sp>
        <p:nvSpPr>
          <p:cNvPr id="5" name="Foliennummernplatzhalter 4"/>
          <p:cNvSpPr>
            <a:spLocks noGrp="1"/>
          </p:cNvSpPr>
          <p:nvPr>
            <p:ph type="sldNum" sz="quarter" idx="12"/>
          </p:nvPr>
        </p:nvSpPr>
        <p:spPr/>
        <p:txBody>
          <a:bodyPr/>
          <a:lstStyle/>
          <a:p>
            <a:fld id="{220551C3-A462-45EE-8D4B-53AADAADD6D4}" type="slidenum">
              <a:rPr lang="de-DE" smtClean="0"/>
              <a:t>3</a:t>
            </a:fld>
            <a:endParaRPr lang="de-DE" dirty="0"/>
          </a:p>
        </p:txBody>
      </p:sp>
      <p:sp>
        <p:nvSpPr>
          <p:cNvPr id="11" name="Textplatzhalter 10"/>
          <p:cNvSpPr>
            <a:spLocks noGrp="1"/>
          </p:cNvSpPr>
          <p:nvPr>
            <p:ph type="body" sz="quarter" idx="13"/>
          </p:nvPr>
        </p:nvSpPr>
        <p:spPr/>
        <p:txBody>
          <a:bodyPr>
            <a:normAutofit lnSpcReduction="10000"/>
          </a:bodyPr>
          <a:lstStyle/>
          <a:p>
            <a:r>
              <a:rPr lang="de-DE" dirty="0" smtClean="0">
                <a:effectLst>
                  <a:outerShdw blurRad="38100" dist="38100" dir="2700000" algn="tl">
                    <a:srgbClr val="000000">
                      <a:alpha val="43137"/>
                    </a:srgbClr>
                  </a:outerShdw>
                </a:effectLst>
              </a:rPr>
              <a:t>XAMPP</a:t>
            </a:r>
            <a:endParaRPr lang="de-DE" dirty="0">
              <a:effectLst>
                <a:outerShdw blurRad="38100" dist="38100" dir="2700000" algn="tl">
                  <a:srgbClr val="000000">
                    <a:alpha val="43137"/>
                  </a:srgbClr>
                </a:outerShdw>
              </a:effectLst>
            </a:endParaRPr>
          </a:p>
        </p:txBody>
      </p:sp>
      <p:sp>
        <p:nvSpPr>
          <p:cNvPr id="12" name="Textplatzhalter 11"/>
          <p:cNvSpPr>
            <a:spLocks noGrp="1"/>
          </p:cNvSpPr>
          <p:nvPr>
            <p:ph type="body" sz="quarter" idx="14"/>
          </p:nvPr>
        </p:nvSpPr>
        <p:spPr/>
        <p:txBody>
          <a:bodyPr>
            <a:normAutofit/>
          </a:bodyPr>
          <a:lstStyle/>
          <a:p>
            <a:r>
              <a:rPr lang="de-DE" b="1" u="sng" dirty="0" smtClean="0"/>
              <a:t>Anwendung zum Betreiben eines Webservers mit MySQL und PHP </a:t>
            </a:r>
            <a:r>
              <a:rPr lang="de-DE" b="1" u="sng" dirty="0" err="1" smtClean="0"/>
              <a:t>My</a:t>
            </a:r>
            <a:r>
              <a:rPr lang="de-DE" b="1" u="sng" dirty="0" smtClean="0"/>
              <a:t> Admin </a:t>
            </a:r>
            <a:r>
              <a:rPr lang="de-DE" b="1" dirty="0" smtClean="0">
                <a:sym typeface="Wingdings" panose="05000000000000000000" pitchFamily="2" charset="2"/>
              </a:rPr>
              <a:t></a:t>
            </a:r>
            <a:r>
              <a:rPr lang="de-DE" b="1" dirty="0" smtClean="0"/>
              <a:t> </a:t>
            </a:r>
          </a:p>
          <a:p>
            <a:endParaRPr lang="de-DE" dirty="0"/>
          </a:p>
        </p:txBody>
      </p:sp>
      <p:sp>
        <p:nvSpPr>
          <p:cNvPr id="13" name="Textplatzhalter 12"/>
          <p:cNvSpPr>
            <a:spLocks noGrp="1"/>
          </p:cNvSpPr>
          <p:nvPr>
            <p:ph type="body" sz="quarter" idx="15"/>
          </p:nvPr>
        </p:nvSpPr>
        <p:spPr/>
        <p:txBody>
          <a:bodyPr/>
          <a:lstStyle/>
          <a:p>
            <a:r>
              <a:rPr lang="de-DE" dirty="0" smtClean="0">
                <a:effectLst>
                  <a:outerShdw blurRad="38100" dist="38100" dir="2700000" algn="tl">
                    <a:srgbClr val="000000">
                      <a:alpha val="43137"/>
                    </a:srgbClr>
                  </a:outerShdw>
                </a:effectLst>
              </a:rPr>
              <a:t>01</a:t>
            </a:r>
            <a:endParaRPr lang="de-DE" dirty="0">
              <a:effectLst>
                <a:outerShdw blurRad="38100" dist="38100" dir="2700000" algn="tl">
                  <a:srgbClr val="000000">
                    <a:alpha val="43137"/>
                  </a:srgbClr>
                </a:outerShdw>
              </a:effectLst>
            </a:endParaRP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0"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dirty="0"/>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dirty="0"/>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dirty="0"/>
          </a:p>
        </p:txBody>
      </p:sp>
      <p:sp>
        <p:nvSpPr>
          <p:cNvPr id="22" name="Textplatzhalter 11"/>
          <p:cNvSpPr txBox="1">
            <a:spLocks/>
          </p:cNvSpPr>
          <p:nvPr/>
        </p:nvSpPr>
        <p:spPr>
          <a:xfrm>
            <a:off x="5389392" y="3642539"/>
            <a:ext cx="4012041" cy="19285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i="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smtClean="0"/>
              <a:t>Diesen Schritt können Sie überspringen, wenn Sie bereits XAMPP installiert haben</a:t>
            </a:r>
          </a:p>
          <a:p>
            <a:endParaRPr lang="de-DE" dirty="0"/>
          </a:p>
        </p:txBody>
      </p:sp>
    </p:spTree>
    <p:extLst>
      <p:ext uri="{BB962C8B-B14F-4D97-AF65-F5344CB8AC3E}">
        <p14:creationId xmlns:p14="http://schemas.microsoft.com/office/powerpoint/2010/main" val="1968331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2426" y="592336"/>
            <a:ext cx="7947147" cy="4235398"/>
          </a:xfrm>
          <a:prstGeom prst="rect">
            <a:avLst/>
          </a:prstGeom>
        </p:spPr>
      </p:pic>
      <p:sp>
        <p:nvSpPr>
          <p:cNvPr id="2" name="Datumsplatzhalter 1"/>
          <p:cNvSpPr>
            <a:spLocks noGrp="1"/>
          </p:cNvSpPr>
          <p:nvPr>
            <p:ph type="dt" sz="half" idx="10"/>
          </p:nvPr>
        </p:nvSpPr>
        <p:spPr/>
        <p:txBody>
          <a:bodyPr/>
          <a:lstStyle/>
          <a:p>
            <a:fld id="{9357DECE-B6C9-41E5-99E2-4CC094BB426F}"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latin typeface="+mj-lt"/>
                <a:cs typeface="Arial" panose="020B0604020202020204" pitchFamily="34" charset="0"/>
              </a:rPr>
              <a:t>Datenbankverbindung mit IntelliJ und MySQL</a:t>
            </a:r>
            <a:endParaRPr lang="de-DE" sz="1400" b="1" i="1" u="sng" dirty="0">
              <a:effectLst>
                <a:outerShdw blurRad="38100" dist="38100" dir="2700000" algn="tl">
                  <a:srgbClr val="000000">
                    <a:alpha val="43137"/>
                  </a:srgbClr>
                </a:outerShdw>
              </a:effectLst>
              <a:latin typeface="+mj-lt"/>
              <a:cs typeface="Arial" panose="020B0604020202020204" pitchFamily="34" charset="0"/>
            </a:endParaRPr>
          </a:p>
        </p:txBody>
      </p:sp>
      <p:sp>
        <p:nvSpPr>
          <p:cNvPr id="4" name="Foliennummernplatzhalter 3"/>
          <p:cNvSpPr>
            <a:spLocks noGrp="1"/>
          </p:cNvSpPr>
          <p:nvPr>
            <p:ph type="sldNum" sz="quarter" idx="12"/>
          </p:nvPr>
        </p:nvSpPr>
        <p:spPr/>
        <p:txBody>
          <a:bodyPr/>
          <a:lstStyle/>
          <a:p>
            <a:fld id="{220551C3-A462-45EE-8D4B-53AADAADD6D4}" type="slidenum">
              <a:rPr lang="de-DE" smtClean="0"/>
              <a:t>4</a:t>
            </a:fld>
            <a:endParaRPr lang="de-DE" dirty="0"/>
          </a:p>
        </p:txBody>
      </p:sp>
      <p:sp>
        <p:nvSpPr>
          <p:cNvPr id="7" name="Textplatzhalter 6"/>
          <p:cNvSpPr>
            <a:spLocks noGrp="1"/>
          </p:cNvSpPr>
          <p:nvPr>
            <p:ph type="body" sz="quarter" idx="14"/>
          </p:nvPr>
        </p:nvSpPr>
        <p:spPr>
          <a:xfrm>
            <a:off x="334963" y="4828374"/>
            <a:ext cx="11522075" cy="759625"/>
          </a:xfrm>
        </p:spPr>
        <p:txBody>
          <a:bodyPr>
            <a:normAutofit/>
          </a:bodyPr>
          <a:lstStyle/>
          <a:p>
            <a:pPr lvl="0"/>
            <a:r>
              <a:rPr lang="de-DE" sz="1800" dirty="0" smtClean="0"/>
              <a:t>Unter folgendem Link können Sie XAMPP herunterladen.</a:t>
            </a:r>
          </a:p>
          <a:p>
            <a:r>
              <a:rPr lang="de-DE" sz="1800" dirty="0">
                <a:hlinkClick r:id="rId3"/>
              </a:rPr>
              <a:t>https://</a:t>
            </a:r>
            <a:r>
              <a:rPr lang="de-DE" sz="1800" dirty="0" smtClean="0">
                <a:hlinkClick r:id="rId3"/>
              </a:rPr>
              <a:t>www.apachefriends.org/de/index.html</a:t>
            </a:r>
            <a:endParaRPr lang="de-DE" sz="1800" dirty="0" smtClean="0"/>
          </a:p>
        </p:txBody>
      </p:sp>
      <p:cxnSp>
        <p:nvCxnSpPr>
          <p:cNvPr id="9" name="Gerade Verbindung mit Pfeil 8"/>
          <p:cNvCxnSpPr/>
          <p:nvPr/>
        </p:nvCxnSpPr>
        <p:spPr>
          <a:xfrm flipH="1">
            <a:off x="5710771" y="3289889"/>
            <a:ext cx="770456" cy="81458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 name="Rechteck 5"/>
          <p:cNvSpPr/>
          <p:nvPr/>
        </p:nvSpPr>
        <p:spPr>
          <a:xfrm>
            <a:off x="334961" y="223004"/>
            <a:ext cx="2338782" cy="369332"/>
          </a:xfrm>
          <a:prstGeom prst="rect">
            <a:avLst/>
          </a:prstGeom>
        </p:spPr>
        <p:txBody>
          <a:bodyPr wrap="none">
            <a:spAutoFit/>
          </a:bodyPr>
          <a:lstStyle/>
          <a:p>
            <a:r>
              <a:rPr lang="de-DE" b="1" i="1" u="sng" dirty="0" smtClean="0"/>
              <a:t>Download von XAMPP</a:t>
            </a:r>
            <a:endParaRPr lang="de-DE" b="1" i="1" u="sng" dirty="0"/>
          </a:p>
        </p:txBody>
      </p:sp>
    </p:spTree>
    <p:extLst>
      <p:ext uri="{BB962C8B-B14F-4D97-AF65-F5344CB8AC3E}">
        <p14:creationId xmlns:p14="http://schemas.microsoft.com/office/powerpoint/2010/main" val="33481782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647B916C-7C74-485D-AAFE-BECAA40D2A9E}"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latin typeface="+mj-lt"/>
                <a:cs typeface="Arial" panose="020B0604020202020204" pitchFamily="34" charset="0"/>
              </a:rPr>
              <a:t>Datenbankverbindung mit IntelliJ und MySQL</a:t>
            </a:r>
            <a:endParaRPr lang="de-DE" sz="1400" b="1" i="1" u="sng" dirty="0">
              <a:effectLst>
                <a:outerShdw blurRad="38100" dist="38100" dir="2700000" algn="tl">
                  <a:srgbClr val="000000">
                    <a:alpha val="43137"/>
                  </a:srgbClr>
                </a:outerShdw>
              </a:effectLst>
              <a:latin typeface="+mj-lt"/>
              <a:cs typeface="Arial" panose="020B0604020202020204" pitchFamily="34" charset="0"/>
            </a:endParaRPr>
          </a:p>
        </p:txBody>
      </p:sp>
      <p:sp>
        <p:nvSpPr>
          <p:cNvPr id="4" name="Foliennummernplatzhalter 3"/>
          <p:cNvSpPr>
            <a:spLocks noGrp="1"/>
          </p:cNvSpPr>
          <p:nvPr>
            <p:ph type="sldNum" sz="quarter" idx="12"/>
          </p:nvPr>
        </p:nvSpPr>
        <p:spPr/>
        <p:txBody>
          <a:bodyPr/>
          <a:lstStyle/>
          <a:p>
            <a:fld id="{220551C3-A462-45EE-8D4B-53AADAADD6D4}" type="slidenum">
              <a:rPr lang="de-DE" smtClean="0"/>
              <a:t>5</a:t>
            </a:fld>
            <a:endParaRPr lang="de-DE" dirty="0"/>
          </a:p>
        </p:txBody>
      </p:sp>
      <p:sp>
        <p:nvSpPr>
          <p:cNvPr id="9" name="Textplatzhalter 8"/>
          <p:cNvSpPr>
            <a:spLocks noGrp="1"/>
          </p:cNvSpPr>
          <p:nvPr>
            <p:ph type="body" sz="quarter" idx="15"/>
          </p:nvPr>
        </p:nvSpPr>
        <p:spPr>
          <a:xfrm>
            <a:off x="334963" y="4867274"/>
            <a:ext cx="5761037" cy="955028"/>
          </a:xfrm>
        </p:spPr>
        <p:txBody>
          <a:bodyPr>
            <a:normAutofit/>
          </a:bodyPr>
          <a:lstStyle/>
          <a:p>
            <a:pPr lvl="0"/>
            <a:r>
              <a:rPr lang="de-DE" sz="1800" dirty="0" smtClean="0"/>
              <a:t>Starten Sie die Installation durch Doppelklick auf die heruntergeladene Setup Anwendung</a:t>
            </a:r>
            <a:endParaRPr lang="de-DE" sz="1800" dirty="0"/>
          </a:p>
        </p:txBody>
      </p:sp>
      <p:sp>
        <p:nvSpPr>
          <p:cNvPr id="10" name="Textplatzhalter 9"/>
          <p:cNvSpPr>
            <a:spLocks noGrp="1"/>
          </p:cNvSpPr>
          <p:nvPr>
            <p:ph type="body" sz="quarter" idx="16"/>
          </p:nvPr>
        </p:nvSpPr>
        <p:spPr>
          <a:xfrm>
            <a:off x="6096000" y="4867275"/>
            <a:ext cx="5761036" cy="1057664"/>
          </a:xfrm>
        </p:spPr>
        <p:txBody>
          <a:bodyPr>
            <a:normAutofit/>
          </a:bodyPr>
          <a:lstStyle/>
          <a:p>
            <a:pPr lvl="0"/>
            <a:r>
              <a:rPr lang="de-DE" sz="1800" dirty="0" smtClean="0"/>
              <a:t>Die Installation verläuft wie jede andere und Sie können die Einstellungen auf ihren Standard-Werten lassen. Mindestens aber brauchen wir MySQL und </a:t>
            </a:r>
            <a:r>
              <a:rPr lang="de-DE" sz="1800" dirty="0" err="1" smtClean="0"/>
              <a:t>phpMyAdmin</a:t>
            </a:r>
            <a:r>
              <a:rPr lang="de-DE" sz="1800" dirty="0" smtClean="0"/>
              <a:t>.</a:t>
            </a:r>
            <a:endParaRPr lang="de-DE" sz="1800" dirty="0"/>
          </a:p>
          <a:p>
            <a:endParaRPr lang="de-DE" dirty="0"/>
          </a:p>
        </p:txBody>
      </p:sp>
      <p:sp>
        <p:nvSpPr>
          <p:cNvPr id="11" name="Rechteck 10"/>
          <p:cNvSpPr/>
          <p:nvPr/>
        </p:nvSpPr>
        <p:spPr>
          <a:xfrm>
            <a:off x="334963" y="179790"/>
            <a:ext cx="2037161" cy="369332"/>
          </a:xfrm>
          <a:prstGeom prst="rect">
            <a:avLst/>
          </a:prstGeom>
        </p:spPr>
        <p:txBody>
          <a:bodyPr wrap="none">
            <a:spAutoFit/>
          </a:bodyPr>
          <a:lstStyle/>
          <a:p>
            <a:r>
              <a:rPr lang="de-DE" b="1" i="1" u="sng" dirty="0" smtClean="0"/>
              <a:t>Installation XAMPP</a:t>
            </a:r>
            <a:endParaRPr lang="de-DE" b="1" i="1" u="sng" dirty="0"/>
          </a:p>
        </p:txBody>
      </p:sp>
      <p:pic>
        <p:nvPicPr>
          <p:cNvPr id="7" name="Bildplatzhalter 6"/>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6331" r="-6331"/>
          <a:stretch/>
        </p:blipFill>
        <p:spPr/>
      </p:pic>
      <p:pic>
        <p:nvPicPr>
          <p:cNvPr id="8" name="Bildplatzhalter 7"/>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l="-6511" r="-6511"/>
          <a:stretch/>
        </p:blipFill>
        <p:spPr/>
      </p:pic>
    </p:spTree>
    <p:extLst>
      <p:ext uri="{BB962C8B-B14F-4D97-AF65-F5344CB8AC3E}">
        <p14:creationId xmlns:p14="http://schemas.microsoft.com/office/powerpoint/2010/main" val="18473400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F7316A9C-0B9B-4AC1-9D74-1FDDF501A300}"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latin typeface="+mj-lt"/>
                <a:cs typeface="Arial" panose="020B0604020202020204" pitchFamily="34" charset="0"/>
              </a:rPr>
              <a:t>Datenbankverbindung mit IntelliJ und MySQL</a:t>
            </a:r>
            <a:endParaRPr lang="de-DE" sz="1400" b="1" i="1" u="sng" dirty="0">
              <a:effectLst>
                <a:outerShdw blurRad="38100" dist="38100" dir="2700000" algn="tl">
                  <a:srgbClr val="000000">
                    <a:alpha val="43137"/>
                  </a:srgbClr>
                </a:outerShdw>
              </a:effectLst>
              <a:latin typeface="+mj-lt"/>
              <a:cs typeface="Arial" panose="020B0604020202020204" pitchFamily="34" charset="0"/>
            </a:endParaRPr>
          </a:p>
        </p:txBody>
      </p:sp>
      <p:sp>
        <p:nvSpPr>
          <p:cNvPr id="4" name="Foliennummernplatzhalter 3"/>
          <p:cNvSpPr>
            <a:spLocks noGrp="1"/>
          </p:cNvSpPr>
          <p:nvPr>
            <p:ph type="sldNum" sz="quarter" idx="12"/>
          </p:nvPr>
        </p:nvSpPr>
        <p:spPr/>
        <p:txBody>
          <a:bodyPr/>
          <a:lstStyle/>
          <a:p>
            <a:fld id="{220551C3-A462-45EE-8D4B-53AADAADD6D4}" type="slidenum">
              <a:rPr lang="de-DE" smtClean="0"/>
              <a:t>6</a:t>
            </a:fld>
            <a:endParaRPr lang="de-DE" dirty="0"/>
          </a:p>
        </p:txBody>
      </p:sp>
      <p:sp>
        <p:nvSpPr>
          <p:cNvPr id="9" name="Textplatzhalter 8"/>
          <p:cNvSpPr>
            <a:spLocks noGrp="1"/>
          </p:cNvSpPr>
          <p:nvPr>
            <p:ph type="body" sz="quarter" idx="15"/>
          </p:nvPr>
        </p:nvSpPr>
        <p:spPr>
          <a:xfrm>
            <a:off x="334963" y="4867274"/>
            <a:ext cx="5761037" cy="955028"/>
          </a:xfrm>
        </p:spPr>
        <p:txBody>
          <a:bodyPr>
            <a:normAutofit/>
          </a:bodyPr>
          <a:lstStyle/>
          <a:p>
            <a:pPr lvl="0"/>
            <a:r>
              <a:rPr lang="de-DE" sz="1800" dirty="0" smtClean="0"/>
              <a:t>Installieren Sie XAMPP direkt unter C:\xampp</a:t>
            </a:r>
            <a:endParaRPr lang="de-DE" sz="1800" dirty="0"/>
          </a:p>
        </p:txBody>
      </p:sp>
      <p:sp>
        <p:nvSpPr>
          <p:cNvPr id="10" name="Textplatzhalter 9"/>
          <p:cNvSpPr>
            <a:spLocks noGrp="1"/>
          </p:cNvSpPr>
          <p:nvPr>
            <p:ph type="body" sz="quarter" idx="16"/>
          </p:nvPr>
        </p:nvSpPr>
        <p:spPr>
          <a:xfrm>
            <a:off x="6096000" y="4867275"/>
            <a:ext cx="5761036" cy="1057664"/>
          </a:xfrm>
        </p:spPr>
        <p:txBody>
          <a:bodyPr>
            <a:normAutofit/>
          </a:bodyPr>
          <a:lstStyle/>
          <a:p>
            <a:endParaRPr lang="de-DE" dirty="0"/>
          </a:p>
        </p:txBody>
      </p:sp>
      <p:sp>
        <p:nvSpPr>
          <p:cNvPr id="11" name="Rechteck 10"/>
          <p:cNvSpPr/>
          <p:nvPr/>
        </p:nvSpPr>
        <p:spPr>
          <a:xfrm>
            <a:off x="334963" y="179943"/>
            <a:ext cx="2051587" cy="369332"/>
          </a:xfrm>
          <a:prstGeom prst="rect">
            <a:avLst/>
          </a:prstGeom>
        </p:spPr>
        <p:txBody>
          <a:bodyPr wrap="none">
            <a:spAutoFit/>
          </a:bodyPr>
          <a:lstStyle/>
          <a:p>
            <a:r>
              <a:rPr lang="de-DE" b="1" i="1" u="sng" dirty="0"/>
              <a:t>Installation XAMPP</a:t>
            </a:r>
          </a:p>
        </p:txBody>
      </p:sp>
      <p:pic>
        <p:nvPicPr>
          <p:cNvPr id="12" name="Bildplatzhalter 11"/>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6511" r="-6511"/>
          <a:stretch/>
        </p:blipFill>
        <p:spPr/>
      </p:pic>
      <p:pic>
        <p:nvPicPr>
          <p:cNvPr id="13" name="Bildplatzhalter 12"/>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l="-6662" r="-6662"/>
          <a:stretch/>
        </p:blipFill>
        <p:spPr/>
      </p:pic>
    </p:spTree>
    <p:extLst>
      <p:ext uri="{BB962C8B-B14F-4D97-AF65-F5344CB8AC3E}">
        <p14:creationId xmlns:p14="http://schemas.microsoft.com/office/powerpoint/2010/main" val="29479509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E0A80CE1-9404-4D78-9BE6-CD542C0573D7}"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latin typeface="+mj-lt"/>
                <a:cs typeface="Arial" panose="020B0604020202020204" pitchFamily="34" charset="0"/>
              </a:rPr>
              <a:t>Datenbankverbindung mit IntelliJ und MySQL</a:t>
            </a:r>
            <a:endParaRPr lang="de-DE" sz="1400" b="1" i="1" u="sng" dirty="0">
              <a:effectLst>
                <a:outerShdw blurRad="38100" dist="38100" dir="2700000" algn="tl">
                  <a:srgbClr val="000000">
                    <a:alpha val="43137"/>
                  </a:srgbClr>
                </a:outerShdw>
              </a:effectLst>
              <a:latin typeface="+mj-lt"/>
              <a:cs typeface="Arial" panose="020B0604020202020204" pitchFamily="34" charset="0"/>
            </a:endParaRPr>
          </a:p>
        </p:txBody>
      </p:sp>
      <p:sp>
        <p:nvSpPr>
          <p:cNvPr id="4" name="Foliennummernplatzhalter 3"/>
          <p:cNvSpPr>
            <a:spLocks noGrp="1"/>
          </p:cNvSpPr>
          <p:nvPr>
            <p:ph type="sldNum" sz="quarter" idx="12"/>
          </p:nvPr>
        </p:nvSpPr>
        <p:spPr/>
        <p:txBody>
          <a:bodyPr/>
          <a:lstStyle/>
          <a:p>
            <a:fld id="{220551C3-A462-45EE-8D4B-53AADAADD6D4}" type="slidenum">
              <a:rPr lang="de-DE" smtClean="0"/>
              <a:t>7</a:t>
            </a:fld>
            <a:endParaRPr lang="de-DE" dirty="0"/>
          </a:p>
        </p:txBody>
      </p:sp>
      <p:sp>
        <p:nvSpPr>
          <p:cNvPr id="9" name="Textplatzhalter 8"/>
          <p:cNvSpPr>
            <a:spLocks noGrp="1"/>
          </p:cNvSpPr>
          <p:nvPr>
            <p:ph type="body" sz="quarter" idx="15"/>
          </p:nvPr>
        </p:nvSpPr>
        <p:spPr>
          <a:xfrm>
            <a:off x="334963" y="4867274"/>
            <a:ext cx="5761037" cy="955028"/>
          </a:xfrm>
        </p:spPr>
        <p:txBody>
          <a:bodyPr>
            <a:normAutofit/>
          </a:bodyPr>
          <a:lstStyle/>
          <a:p>
            <a:pPr lvl="0"/>
            <a:r>
              <a:rPr lang="de-DE" sz="1800" dirty="0" smtClean="0"/>
              <a:t>Eventuell werden Sie darum gebeten, den Apache HTTP Server durch die Windows Firewall zu lassen. Dies können Sie bestätigen.</a:t>
            </a:r>
            <a:endParaRPr lang="de-DE" sz="1800" dirty="0"/>
          </a:p>
        </p:txBody>
      </p:sp>
      <p:sp>
        <p:nvSpPr>
          <p:cNvPr id="10" name="Textplatzhalter 9"/>
          <p:cNvSpPr>
            <a:spLocks noGrp="1"/>
          </p:cNvSpPr>
          <p:nvPr>
            <p:ph type="body" sz="quarter" idx="16"/>
          </p:nvPr>
        </p:nvSpPr>
        <p:spPr>
          <a:xfrm>
            <a:off x="6096000" y="4867275"/>
            <a:ext cx="5761036" cy="1057664"/>
          </a:xfrm>
        </p:spPr>
        <p:txBody>
          <a:bodyPr>
            <a:normAutofit/>
          </a:bodyPr>
          <a:lstStyle/>
          <a:p>
            <a:endParaRPr lang="de-DE" dirty="0"/>
          </a:p>
        </p:txBody>
      </p:sp>
      <p:sp>
        <p:nvSpPr>
          <p:cNvPr id="11" name="Rechteck 10"/>
          <p:cNvSpPr/>
          <p:nvPr/>
        </p:nvSpPr>
        <p:spPr>
          <a:xfrm>
            <a:off x="334963" y="179943"/>
            <a:ext cx="2051587" cy="369332"/>
          </a:xfrm>
          <a:prstGeom prst="rect">
            <a:avLst/>
          </a:prstGeom>
        </p:spPr>
        <p:txBody>
          <a:bodyPr wrap="none">
            <a:spAutoFit/>
          </a:bodyPr>
          <a:lstStyle/>
          <a:p>
            <a:r>
              <a:rPr lang="de-DE" b="1" i="1" u="sng" dirty="0"/>
              <a:t>Installation XAMPP</a:t>
            </a:r>
          </a:p>
        </p:txBody>
      </p:sp>
      <p:pic>
        <p:nvPicPr>
          <p:cNvPr id="7" name="Bildplatzhalter 6"/>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4392" r="-4392"/>
          <a:stretch/>
        </p:blipFill>
        <p:spPr/>
      </p:pic>
      <p:pic>
        <p:nvPicPr>
          <p:cNvPr id="8" name="Bildplatzhalter 7"/>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l="-6753" r="-6753"/>
          <a:stretch/>
        </p:blipFill>
        <p:spPr/>
      </p:pic>
      <p:cxnSp>
        <p:nvCxnSpPr>
          <p:cNvPr id="14" name="Gerade Verbindung mit Pfeil 13"/>
          <p:cNvCxnSpPr/>
          <p:nvPr/>
        </p:nvCxnSpPr>
        <p:spPr>
          <a:xfrm flipH="1">
            <a:off x="4593396" y="3645093"/>
            <a:ext cx="770456" cy="81458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9973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pieren 8"/>
          <p:cNvGrpSpPr/>
          <p:nvPr/>
        </p:nvGrpSpPr>
        <p:grpSpPr>
          <a:xfrm>
            <a:off x="0" y="1966520"/>
            <a:ext cx="12192000" cy="4968482"/>
            <a:chOff x="0" y="2716065"/>
            <a:chExt cx="12192000" cy="4968482"/>
          </a:xfrm>
        </p:grpSpPr>
        <p:sp>
          <p:nvSpPr>
            <p:cNvPr id="10" name="Freihandform 9"/>
            <p:cNvSpPr/>
            <p:nvPr/>
          </p:nvSpPr>
          <p:spPr>
            <a:xfrm>
              <a:off x="0" y="2760671"/>
              <a:ext cx="12192000" cy="4923876"/>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 name="connsiteX0" fmla="*/ 0 w 12201054"/>
                <a:gd name="connsiteY0" fmla="*/ 0 h 4864883"/>
                <a:gd name="connsiteX1" fmla="*/ 3454269 w 12201054"/>
                <a:gd name="connsiteY1" fmla="*/ 0 h 4864883"/>
                <a:gd name="connsiteX2" fmla="*/ 3825090 w 12201054"/>
                <a:gd name="connsiteY2" fmla="*/ 351771 h 4864883"/>
                <a:gd name="connsiteX3" fmla="*/ 4195910 w 12201054"/>
                <a:gd name="connsiteY3" fmla="*/ 0 h 4864883"/>
                <a:gd name="connsiteX4" fmla="*/ 12192000 w 12201054"/>
                <a:gd name="connsiteY4" fmla="*/ 0 h 4864883"/>
                <a:gd name="connsiteX5" fmla="*/ 12201054 w 12201054"/>
                <a:gd name="connsiteY5" fmla="*/ 4097966 h 4864883"/>
                <a:gd name="connsiteX6" fmla="*/ 0 w 12201054"/>
                <a:gd name="connsiteY6" fmla="*/ 4864883 h 4864883"/>
                <a:gd name="connsiteX7" fmla="*/ 0 w 12201054"/>
                <a:gd name="connsiteY7" fmla="*/ 0 h 4864883"/>
                <a:gd name="connsiteX0" fmla="*/ 0 w 12192000"/>
                <a:gd name="connsiteY0" fmla="*/ 0 h 4923876"/>
                <a:gd name="connsiteX1" fmla="*/ 3454269 w 12192000"/>
                <a:gd name="connsiteY1" fmla="*/ 0 h 4923876"/>
                <a:gd name="connsiteX2" fmla="*/ 3825090 w 12192000"/>
                <a:gd name="connsiteY2" fmla="*/ 351771 h 4923876"/>
                <a:gd name="connsiteX3" fmla="*/ 4195910 w 12192000"/>
                <a:gd name="connsiteY3" fmla="*/ 0 h 4923876"/>
                <a:gd name="connsiteX4" fmla="*/ 12192000 w 12192000"/>
                <a:gd name="connsiteY4" fmla="*/ 0 h 4923876"/>
                <a:gd name="connsiteX5" fmla="*/ 12171558 w 12192000"/>
                <a:gd name="connsiteY5" fmla="*/ 4923876 h 4923876"/>
                <a:gd name="connsiteX6" fmla="*/ 0 w 12192000"/>
                <a:gd name="connsiteY6" fmla="*/ 4864883 h 4923876"/>
                <a:gd name="connsiteX7" fmla="*/ 0 w 12192000"/>
                <a:gd name="connsiteY7" fmla="*/ 0 h 4923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923876">
                  <a:moveTo>
                    <a:pt x="0" y="0"/>
                  </a:moveTo>
                  <a:lnTo>
                    <a:pt x="3454269" y="0"/>
                  </a:lnTo>
                  <a:lnTo>
                    <a:pt x="3825090" y="351771"/>
                  </a:lnTo>
                  <a:lnTo>
                    <a:pt x="4195910" y="0"/>
                  </a:lnTo>
                  <a:lnTo>
                    <a:pt x="12192000" y="0"/>
                  </a:lnTo>
                  <a:lnTo>
                    <a:pt x="12171558" y="4923876"/>
                  </a:lnTo>
                  <a:lnTo>
                    <a:pt x="0" y="4864883"/>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pic>
        <p:nvPicPr>
          <p:cNvPr id="12" name="Grafik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Datumsplatzhalter 1"/>
          <p:cNvSpPr>
            <a:spLocks noGrp="1"/>
          </p:cNvSpPr>
          <p:nvPr>
            <p:ph type="dt" sz="half" idx="10"/>
          </p:nvPr>
        </p:nvSpPr>
        <p:spPr/>
        <p:txBody>
          <a:bodyPr/>
          <a:lstStyle/>
          <a:p>
            <a:fld id="{28AD5B65-58B2-4376-BAE3-AA736E993A12}"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8</a:t>
            </a:fld>
            <a:endParaRPr lang="de-DE" dirty="0"/>
          </a:p>
        </p:txBody>
      </p:sp>
      <p:sp>
        <p:nvSpPr>
          <p:cNvPr id="7" name="Textplatzhalter 6"/>
          <p:cNvSpPr>
            <a:spLocks noGrp="1"/>
          </p:cNvSpPr>
          <p:nvPr>
            <p:ph type="body" sz="quarter" idx="13"/>
          </p:nvPr>
        </p:nvSpPr>
        <p:spPr/>
        <p:txBody>
          <a:bodyPr/>
          <a:lstStyle/>
          <a:p>
            <a:r>
              <a:rPr lang="de-DE" dirty="0" smtClean="0"/>
              <a:t>„Sie haben XAMPP erfolgreich installiert.“</a:t>
            </a:r>
            <a:endParaRPr lang="de-DE" dirty="0"/>
          </a:p>
          <a:p>
            <a:endParaRPr lang="de-DE" dirty="0"/>
          </a:p>
        </p:txBody>
      </p:sp>
      <p:sp>
        <p:nvSpPr>
          <p:cNvPr id="13" name="Bildplatzhalter 12"/>
          <p:cNvSpPr>
            <a:spLocks noGrp="1"/>
          </p:cNvSpPr>
          <p:nvPr>
            <p:ph type="pic" sz="quarter" idx="15"/>
          </p:nvPr>
        </p:nvSpPr>
        <p:spPr/>
      </p:sp>
      <p:sp>
        <p:nvSpPr>
          <p:cNvPr id="14" name="Grafik 83" descr="Chatblase">
            <a:extLst>
              <a:ext uri="{FF2B5EF4-FFF2-40B4-BE49-F238E27FC236}">
                <a16:creationId xmlns:a16="http://schemas.microsoft.com/office/drawing/2014/main" id="{E7B84235-00E5-4994-AE25-BF02D689C651}"/>
              </a:ext>
            </a:extLst>
          </p:cNvPr>
          <p:cNvSpPr/>
          <p:nvPr/>
        </p:nvSpPr>
        <p:spPr>
          <a:xfrm>
            <a:off x="702895" y="4648381"/>
            <a:ext cx="1049705" cy="957082"/>
          </a:xfrm>
          <a:custGeom>
            <a:avLst/>
            <a:gdLst>
              <a:gd name="connsiteX0" fmla="*/ 477502 w 502634"/>
              <a:gd name="connsiteY0" fmla="*/ 0 h 458283"/>
              <a:gd name="connsiteX1" fmla="*/ 25132 w 502634"/>
              <a:gd name="connsiteY1" fmla="*/ 0 h 458283"/>
              <a:gd name="connsiteX2" fmla="*/ 0 w 502634"/>
              <a:gd name="connsiteY2" fmla="*/ 25427 h 458283"/>
              <a:gd name="connsiteX3" fmla="*/ 0 w 502634"/>
              <a:gd name="connsiteY3" fmla="*/ 25427 h 458283"/>
              <a:gd name="connsiteX4" fmla="*/ 0 w 502634"/>
              <a:gd name="connsiteY4" fmla="*/ 330999 h 458283"/>
              <a:gd name="connsiteX5" fmla="*/ 25131 w 502634"/>
              <a:gd name="connsiteY5" fmla="*/ 356426 h 458283"/>
              <a:gd name="connsiteX6" fmla="*/ 25132 w 502634"/>
              <a:gd name="connsiteY6" fmla="*/ 356426 h 458283"/>
              <a:gd name="connsiteX7" fmla="*/ 301580 w 502634"/>
              <a:gd name="connsiteY7" fmla="*/ 356426 h 458283"/>
              <a:gd name="connsiteX8" fmla="*/ 402107 w 502634"/>
              <a:gd name="connsiteY8" fmla="*/ 458283 h 458283"/>
              <a:gd name="connsiteX9" fmla="*/ 402107 w 502634"/>
              <a:gd name="connsiteY9" fmla="*/ 356426 h 458283"/>
              <a:gd name="connsiteX10" fmla="*/ 477502 w 502634"/>
              <a:gd name="connsiteY10" fmla="*/ 356426 h 458283"/>
              <a:gd name="connsiteX11" fmla="*/ 502634 w 502634"/>
              <a:gd name="connsiteY11" fmla="*/ 331000 h 458283"/>
              <a:gd name="connsiteX12" fmla="*/ 502634 w 502634"/>
              <a:gd name="connsiteY12" fmla="*/ 330999 h 458283"/>
              <a:gd name="connsiteX13" fmla="*/ 502634 w 502634"/>
              <a:gd name="connsiteY13" fmla="*/ 25427 h 458283"/>
              <a:gd name="connsiteX14" fmla="*/ 477503 w 502634"/>
              <a:gd name="connsiteY14" fmla="*/ 0 h 458283"/>
              <a:gd name="connsiteX15" fmla="*/ 477502 w 502634"/>
              <a:gd name="connsiteY15" fmla="*/ 0 h 458283"/>
              <a:gd name="connsiteX16" fmla="*/ 133050 w 502634"/>
              <a:gd name="connsiteY16" fmla="*/ 214358 h 458283"/>
              <a:gd name="connsiteX17" fmla="*/ 96092 w 502634"/>
              <a:gd name="connsiteY17" fmla="*/ 177400 h 458283"/>
              <a:gd name="connsiteX18" fmla="*/ 133050 w 502634"/>
              <a:gd name="connsiteY18" fmla="*/ 140442 h 458283"/>
              <a:gd name="connsiteX19" fmla="*/ 170009 w 502634"/>
              <a:gd name="connsiteY19" fmla="*/ 177400 h 458283"/>
              <a:gd name="connsiteX20" fmla="*/ 133050 w 502634"/>
              <a:gd name="connsiteY20" fmla="*/ 214358 h 458283"/>
              <a:gd name="connsiteX21" fmla="*/ 251317 w 502634"/>
              <a:gd name="connsiteY21" fmla="*/ 214358 h 458283"/>
              <a:gd name="connsiteX22" fmla="*/ 214359 w 502634"/>
              <a:gd name="connsiteY22" fmla="*/ 177400 h 458283"/>
              <a:gd name="connsiteX23" fmla="*/ 251317 w 502634"/>
              <a:gd name="connsiteY23" fmla="*/ 140442 h 458283"/>
              <a:gd name="connsiteX24" fmla="*/ 288275 w 502634"/>
              <a:gd name="connsiteY24" fmla="*/ 177400 h 458283"/>
              <a:gd name="connsiteX25" fmla="*/ 251317 w 502634"/>
              <a:gd name="connsiteY25" fmla="*/ 214358 h 458283"/>
              <a:gd name="connsiteX26" fmla="*/ 369584 w 502634"/>
              <a:gd name="connsiteY26" fmla="*/ 214358 h 458283"/>
              <a:gd name="connsiteX27" fmla="*/ 332625 w 502634"/>
              <a:gd name="connsiteY27" fmla="*/ 177400 h 458283"/>
              <a:gd name="connsiteX28" fmla="*/ 369584 w 502634"/>
              <a:gd name="connsiteY28" fmla="*/ 140442 h 458283"/>
              <a:gd name="connsiteX29" fmla="*/ 406542 w 502634"/>
              <a:gd name="connsiteY29" fmla="*/ 177400 h 458283"/>
              <a:gd name="connsiteX30" fmla="*/ 369584 w 502634"/>
              <a:gd name="connsiteY30" fmla="*/ 214358 h 45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02634" h="458283">
                <a:moveTo>
                  <a:pt x="477502" y="0"/>
                </a:moveTo>
                <a:lnTo>
                  <a:pt x="25132" y="0"/>
                </a:lnTo>
                <a:cubicBezTo>
                  <a:pt x="11171" y="81"/>
                  <a:pt x="-81" y="11465"/>
                  <a:pt x="0" y="25427"/>
                </a:cubicBezTo>
                <a:cubicBezTo>
                  <a:pt x="0" y="25427"/>
                  <a:pt x="0" y="25427"/>
                  <a:pt x="0" y="25427"/>
                </a:cubicBezTo>
                <a:lnTo>
                  <a:pt x="0" y="330999"/>
                </a:lnTo>
                <a:cubicBezTo>
                  <a:pt x="-82" y="344960"/>
                  <a:pt x="11170" y="356344"/>
                  <a:pt x="25131" y="356426"/>
                </a:cubicBezTo>
                <a:cubicBezTo>
                  <a:pt x="25131" y="356426"/>
                  <a:pt x="25132" y="356426"/>
                  <a:pt x="25132" y="356426"/>
                </a:cubicBezTo>
                <a:lnTo>
                  <a:pt x="301580" y="356426"/>
                </a:lnTo>
                <a:lnTo>
                  <a:pt x="402107" y="458283"/>
                </a:lnTo>
                <a:lnTo>
                  <a:pt x="402107" y="356426"/>
                </a:lnTo>
                <a:lnTo>
                  <a:pt x="477502" y="356426"/>
                </a:lnTo>
                <a:cubicBezTo>
                  <a:pt x="491464" y="356345"/>
                  <a:pt x="502715" y="344961"/>
                  <a:pt x="502634" y="331000"/>
                </a:cubicBezTo>
                <a:cubicBezTo>
                  <a:pt x="502634" y="331000"/>
                  <a:pt x="502634" y="330999"/>
                  <a:pt x="502634" y="330999"/>
                </a:cubicBezTo>
                <a:lnTo>
                  <a:pt x="502634" y="25427"/>
                </a:lnTo>
                <a:cubicBezTo>
                  <a:pt x="502716" y="11466"/>
                  <a:pt x="491464" y="82"/>
                  <a:pt x="477503" y="0"/>
                </a:cubicBezTo>
                <a:cubicBezTo>
                  <a:pt x="477503" y="0"/>
                  <a:pt x="477502" y="0"/>
                  <a:pt x="477502" y="0"/>
                </a:cubicBezTo>
                <a:close/>
                <a:moveTo>
                  <a:pt x="133050" y="214358"/>
                </a:moveTo>
                <a:cubicBezTo>
                  <a:pt x="112639" y="214358"/>
                  <a:pt x="96092" y="197811"/>
                  <a:pt x="96092" y="177400"/>
                </a:cubicBezTo>
                <a:cubicBezTo>
                  <a:pt x="96092" y="156989"/>
                  <a:pt x="112639" y="140442"/>
                  <a:pt x="133050" y="140442"/>
                </a:cubicBezTo>
                <a:cubicBezTo>
                  <a:pt x="153462" y="140442"/>
                  <a:pt x="170009" y="156989"/>
                  <a:pt x="170009" y="177400"/>
                </a:cubicBezTo>
                <a:cubicBezTo>
                  <a:pt x="170009" y="197811"/>
                  <a:pt x="153462" y="214358"/>
                  <a:pt x="133050" y="214358"/>
                </a:cubicBezTo>
                <a:close/>
                <a:moveTo>
                  <a:pt x="251317" y="214358"/>
                </a:moveTo>
                <a:cubicBezTo>
                  <a:pt x="230906" y="214358"/>
                  <a:pt x="214359" y="197811"/>
                  <a:pt x="214359" y="177400"/>
                </a:cubicBezTo>
                <a:cubicBezTo>
                  <a:pt x="214359" y="156989"/>
                  <a:pt x="230906" y="140442"/>
                  <a:pt x="251317" y="140442"/>
                </a:cubicBezTo>
                <a:cubicBezTo>
                  <a:pt x="271728" y="140442"/>
                  <a:pt x="288275" y="156989"/>
                  <a:pt x="288275" y="177400"/>
                </a:cubicBezTo>
                <a:cubicBezTo>
                  <a:pt x="288275" y="197811"/>
                  <a:pt x="271728" y="214358"/>
                  <a:pt x="251317" y="214358"/>
                </a:cubicBezTo>
                <a:close/>
                <a:moveTo>
                  <a:pt x="369584" y="214358"/>
                </a:moveTo>
                <a:cubicBezTo>
                  <a:pt x="349172" y="214358"/>
                  <a:pt x="332625" y="197811"/>
                  <a:pt x="332625" y="177400"/>
                </a:cubicBezTo>
                <a:cubicBezTo>
                  <a:pt x="332625" y="156989"/>
                  <a:pt x="349172" y="140442"/>
                  <a:pt x="369584" y="140442"/>
                </a:cubicBezTo>
                <a:cubicBezTo>
                  <a:pt x="389995" y="140442"/>
                  <a:pt x="406542" y="156989"/>
                  <a:pt x="406542" y="177400"/>
                </a:cubicBezTo>
                <a:cubicBezTo>
                  <a:pt x="406542" y="197811"/>
                  <a:pt x="389995" y="214358"/>
                  <a:pt x="369584" y="214358"/>
                </a:cubicBezTo>
                <a:close/>
              </a:path>
            </a:pathLst>
          </a:custGeom>
          <a:solidFill>
            <a:srgbClr val="FFFFFF"/>
          </a:solidFill>
          <a:ln w="7342" cap="flat">
            <a:noFill/>
            <a:prstDash val="solid"/>
            <a:miter/>
          </a:ln>
        </p:spPr>
        <p:txBody>
          <a:bodyPr rtlCol="0" anchor="ctr"/>
          <a:lstStyle/>
          <a:p>
            <a:endParaRPr lang="de-DE" dirty="0"/>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39540860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3541C289-6196-4174-8AFB-B8CEF0FA694F}" type="datetime1">
              <a:rPr lang="de-DE" smtClean="0"/>
              <a:t>17.09.2021</a:t>
            </a:fld>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9</a:t>
            </a:fld>
            <a:endParaRPr lang="de-DE" dirty="0"/>
          </a:p>
        </p:txBody>
      </p:sp>
      <p:sp>
        <p:nvSpPr>
          <p:cNvPr id="11" name="Textplatzhalter 10"/>
          <p:cNvSpPr>
            <a:spLocks noGrp="1"/>
          </p:cNvSpPr>
          <p:nvPr>
            <p:ph type="body" sz="quarter" idx="13"/>
          </p:nvPr>
        </p:nvSpPr>
        <p:spPr>
          <a:xfrm>
            <a:off x="5389392" y="2001809"/>
            <a:ext cx="5964408" cy="707704"/>
          </a:xfrm>
        </p:spPr>
        <p:txBody>
          <a:bodyPr>
            <a:normAutofit fontScale="77500" lnSpcReduction="20000"/>
          </a:bodyPr>
          <a:lstStyle/>
          <a:p>
            <a:r>
              <a:rPr lang="de-DE" dirty="0" smtClean="0">
                <a:effectLst>
                  <a:outerShdw blurRad="38100" dist="38100" dir="2700000" algn="tl">
                    <a:srgbClr val="000000">
                      <a:alpha val="43137"/>
                    </a:srgbClr>
                  </a:outerShdw>
                </a:effectLst>
              </a:rPr>
              <a:t>MySQL Connector </a:t>
            </a:r>
            <a:r>
              <a:rPr lang="de-DE" dirty="0">
                <a:effectLst>
                  <a:outerShdw blurRad="38100" dist="38100" dir="2700000" algn="tl">
                    <a:srgbClr val="000000">
                      <a:alpha val="43137"/>
                    </a:srgbClr>
                  </a:outerShdw>
                </a:effectLst>
              </a:rPr>
              <a:t>und </a:t>
            </a:r>
            <a:r>
              <a:rPr lang="de-DE" dirty="0" err="1" smtClean="0">
                <a:effectLst>
                  <a:outerShdw blurRad="38100" dist="38100" dir="2700000" algn="tl">
                    <a:srgbClr val="000000">
                      <a:alpha val="43137"/>
                    </a:srgbClr>
                  </a:outerShdw>
                </a:effectLst>
              </a:rPr>
              <a:t>IntelliJ</a:t>
            </a:r>
            <a:endParaRPr lang="de-DE" dirty="0">
              <a:effectLst>
                <a:outerShdw blurRad="38100" dist="38100" dir="2700000" algn="tl">
                  <a:srgbClr val="000000">
                    <a:alpha val="43137"/>
                  </a:srgbClr>
                </a:outerShdw>
              </a:effectLst>
            </a:endParaRPr>
          </a:p>
        </p:txBody>
      </p:sp>
      <p:sp>
        <p:nvSpPr>
          <p:cNvPr id="12" name="Textplatzhalter 11"/>
          <p:cNvSpPr>
            <a:spLocks noGrp="1"/>
          </p:cNvSpPr>
          <p:nvPr>
            <p:ph type="body" sz="quarter" idx="14"/>
          </p:nvPr>
        </p:nvSpPr>
        <p:spPr/>
        <p:txBody>
          <a:bodyPr>
            <a:normAutofit lnSpcReduction="10000"/>
          </a:bodyPr>
          <a:lstStyle/>
          <a:p>
            <a:r>
              <a:rPr lang="de-DE" b="1" dirty="0" smtClean="0"/>
              <a:t>2.1 </a:t>
            </a:r>
            <a:r>
              <a:rPr lang="de-DE" b="1" u="sng" dirty="0"/>
              <a:t>Download </a:t>
            </a:r>
            <a:r>
              <a:rPr lang="de-DE" b="1" dirty="0">
                <a:sym typeface="Wingdings" panose="05000000000000000000" pitchFamily="2" charset="2"/>
              </a:rPr>
              <a:t></a:t>
            </a:r>
            <a:endParaRPr lang="de-DE" b="1" dirty="0"/>
          </a:p>
          <a:p>
            <a:r>
              <a:rPr lang="de-DE" b="1" dirty="0" smtClean="0"/>
              <a:t>2.2 Einrichten </a:t>
            </a:r>
            <a:r>
              <a:rPr lang="de-DE" b="1" dirty="0"/>
              <a:t>der Entwicklungsumgebung</a:t>
            </a:r>
          </a:p>
          <a:p>
            <a:endParaRPr lang="de-DE" dirty="0"/>
          </a:p>
        </p:txBody>
      </p:sp>
      <p:sp>
        <p:nvSpPr>
          <p:cNvPr id="13" name="Textplatzhalter 12"/>
          <p:cNvSpPr>
            <a:spLocks noGrp="1"/>
          </p:cNvSpPr>
          <p:nvPr>
            <p:ph type="body" sz="quarter" idx="15"/>
          </p:nvPr>
        </p:nvSpPr>
        <p:spPr/>
        <p:txBody>
          <a:bodyPr/>
          <a:lstStyle/>
          <a:p>
            <a:r>
              <a:rPr lang="de-DE" dirty="0" smtClean="0">
                <a:effectLst>
                  <a:outerShdw blurRad="38100" dist="38100" dir="2700000" algn="tl">
                    <a:srgbClr val="000000">
                      <a:alpha val="43137"/>
                    </a:srgbClr>
                  </a:outerShdw>
                </a:effectLst>
              </a:rPr>
              <a:t>02</a:t>
            </a:r>
            <a:endParaRPr lang="de-DE" dirty="0">
              <a:effectLst>
                <a:outerShdw blurRad="38100" dist="38100" dir="2700000" algn="tl">
                  <a:srgbClr val="000000">
                    <a:alpha val="43137"/>
                  </a:srgbClr>
                </a:outerShdw>
              </a:effectLst>
            </a:endParaRP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0"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dirty="0"/>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dirty="0"/>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dirty="0"/>
          </a:p>
        </p:txBody>
      </p:sp>
      <p:sp>
        <p:nvSpPr>
          <p:cNvPr id="20" name="Textplatzhalter 11"/>
          <p:cNvSpPr txBox="1">
            <a:spLocks/>
          </p:cNvSpPr>
          <p:nvPr/>
        </p:nvSpPr>
        <p:spPr>
          <a:xfrm>
            <a:off x="5389391" y="3725394"/>
            <a:ext cx="4874282" cy="19942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i="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smtClean="0"/>
              <a:t>Um in Java auf MySQL Datenbanken zugreifen zu können, muss ein MySQL Connector installiert werden. Auf diesen Connector werden wir in unseren Java Projekten, die Datenbanken verwenden sollen, verweisen.</a:t>
            </a:r>
            <a:endParaRPr lang="de-DE" dirty="0"/>
          </a:p>
        </p:txBody>
      </p:sp>
      <p:sp>
        <p:nvSpPr>
          <p:cNvPr id="2" name="Fußzeilenplatzhalter 1"/>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39068171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A6E9F17B-D6FC-46E6-9F70-308D375A74D4}"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10</a:t>
            </a:fld>
            <a:endParaRPr lang="de-DE" dirty="0"/>
          </a:p>
        </p:txBody>
      </p:sp>
      <p:sp>
        <p:nvSpPr>
          <p:cNvPr id="6" name="Fußzeilenplatzhalter 5"/>
          <p:cNvSpPr>
            <a:spLocks noGrp="1"/>
          </p:cNvSpPr>
          <p:nvPr>
            <p:ph type="ftr" sz="quarter" idx="11"/>
          </p:nvPr>
        </p:nvSpPr>
        <p:spPr/>
        <p:txBody>
          <a:bodyPr/>
          <a:lstStyle/>
          <a:p>
            <a:r>
              <a:rPr lang="de-DE" smtClean="0"/>
              <a:t>Datenbankverbindung mit IntelliJ und MySQL</a:t>
            </a:r>
            <a:endParaRPr lang="de-DE" dirty="0"/>
          </a:p>
        </p:txBody>
      </p:sp>
      <p:sp>
        <p:nvSpPr>
          <p:cNvPr id="11" name="Rechteck 10"/>
          <p:cNvSpPr/>
          <p:nvPr/>
        </p:nvSpPr>
        <p:spPr>
          <a:xfrm>
            <a:off x="334963" y="179943"/>
            <a:ext cx="3325334" cy="369332"/>
          </a:xfrm>
          <a:prstGeom prst="rect">
            <a:avLst/>
          </a:prstGeom>
        </p:spPr>
        <p:txBody>
          <a:bodyPr wrap="none">
            <a:spAutoFit/>
          </a:bodyPr>
          <a:lstStyle/>
          <a:p>
            <a:r>
              <a:rPr lang="de-DE" b="1" i="1" u="sng" dirty="0" smtClean="0"/>
              <a:t>Download von MySQL Connector</a:t>
            </a:r>
            <a:endParaRPr lang="de-DE" b="1" i="1" u="sng" dirty="0"/>
          </a:p>
        </p:txBody>
      </p:sp>
      <p:pic>
        <p:nvPicPr>
          <p:cNvPr id="12" name="Bildplatzhalter 11"/>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17124" b="-17124"/>
          <a:stretch/>
        </p:blipFill>
        <p:spPr>
          <a:xfrm>
            <a:off x="334963" y="549275"/>
            <a:ext cx="5561635" cy="3809080"/>
          </a:xfrm>
        </p:spPr>
      </p:pic>
      <p:sp>
        <p:nvSpPr>
          <p:cNvPr id="14" name="Textplatzhalter 6"/>
          <p:cNvSpPr>
            <a:spLocks noGrp="1"/>
          </p:cNvSpPr>
          <p:nvPr>
            <p:ph type="body" sz="quarter" idx="15"/>
          </p:nvPr>
        </p:nvSpPr>
        <p:spPr>
          <a:xfrm>
            <a:off x="334963" y="4315626"/>
            <a:ext cx="11018836" cy="1546789"/>
          </a:xfrm>
        </p:spPr>
        <p:txBody>
          <a:bodyPr>
            <a:normAutofit/>
          </a:bodyPr>
          <a:lstStyle/>
          <a:p>
            <a:pPr lvl="0"/>
            <a:r>
              <a:rPr lang="de-DE" sz="1800" dirty="0" smtClean="0"/>
              <a:t>Unter folgendem Link können Sie den MySQL Connector herunterladen.</a:t>
            </a:r>
          </a:p>
          <a:p>
            <a:r>
              <a:rPr lang="de-DE" sz="1800" dirty="0">
                <a:hlinkClick r:id="rId3"/>
              </a:rPr>
              <a:t>https://dev.mysql.com/downloads/connector/j</a:t>
            </a:r>
            <a:r>
              <a:rPr lang="de-DE" sz="1800" dirty="0" smtClean="0">
                <a:hlinkClick r:id="rId3"/>
              </a:rPr>
              <a:t>/</a:t>
            </a:r>
            <a:endParaRPr lang="de-DE" sz="1800" dirty="0" smtClean="0"/>
          </a:p>
          <a:p>
            <a:r>
              <a:rPr lang="de-DE" sz="1800" dirty="0" smtClean="0"/>
              <a:t>Wählen Sie als Betriebssystem „</a:t>
            </a:r>
            <a:r>
              <a:rPr lang="de-DE" sz="1800" dirty="0" err="1" smtClean="0"/>
              <a:t>Platform</a:t>
            </a:r>
            <a:r>
              <a:rPr lang="de-DE" sz="1800" dirty="0" smtClean="0"/>
              <a:t> Independent“ aus und laden Sie das Zip-Archiv herunter.</a:t>
            </a:r>
          </a:p>
          <a:p>
            <a:r>
              <a:rPr lang="de-DE" sz="1800" dirty="0" smtClean="0"/>
              <a:t>Entpacken Sie das Archiv in Ihren </a:t>
            </a:r>
            <a:r>
              <a:rPr lang="de-DE" sz="1800" dirty="0" err="1" smtClean="0"/>
              <a:t>IdeaProjects</a:t>
            </a:r>
            <a:r>
              <a:rPr lang="de-DE" sz="1800" dirty="0" smtClean="0"/>
              <a:t>. Dadurch kann der Connector in </a:t>
            </a:r>
            <a:r>
              <a:rPr lang="de-DE" sz="1800" dirty="0" err="1" smtClean="0"/>
              <a:t>IntelliJ</a:t>
            </a:r>
            <a:r>
              <a:rPr lang="de-DE" sz="1800" dirty="0" smtClean="0"/>
              <a:t> leichter gefunden werden.</a:t>
            </a:r>
          </a:p>
          <a:p>
            <a:endParaRPr lang="de-DE" sz="1800" dirty="0" smtClean="0"/>
          </a:p>
        </p:txBody>
      </p:sp>
      <p:cxnSp>
        <p:nvCxnSpPr>
          <p:cNvPr id="15" name="Gerade Verbindung mit Pfeil 14"/>
          <p:cNvCxnSpPr/>
          <p:nvPr/>
        </p:nvCxnSpPr>
        <p:spPr>
          <a:xfrm>
            <a:off x="4580546" y="2144994"/>
            <a:ext cx="673508" cy="7849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mit Pfeil 15"/>
          <p:cNvCxnSpPr/>
          <p:nvPr/>
        </p:nvCxnSpPr>
        <p:spPr>
          <a:xfrm flipH="1">
            <a:off x="1698270" y="1210574"/>
            <a:ext cx="770456" cy="81458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20" name="Bildplatzhalter 19"/>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l="-8297" r="-8297"/>
          <a:stretch/>
        </p:blipFill>
        <p:spPr>
          <a:xfrm>
            <a:off x="6087454" y="476087"/>
            <a:ext cx="5761037" cy="3740714"/>
          </a:xfrm>
        </p:spPr>
      </p:pic>
      <p:cxnSp>
        <p:nvCxnSpPr>
          <p:cNvPr id="21" name="Gerade Verbindung mit Pfeil 20"/>
          <p:cNvCxnSpPr/>
          <p:nvPr/>
        </p:nvCxnSpPr>
        <p:spPr>
          <a:xfrm flipH="1" flipV="1">
            <a:off x="8142866" y="1526047"/>
            <a:ext cx="482332" cy="41665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48235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67A3E172-BB73-4766-B3F7-5F85FF35FB78}" type="datetime1">
              <a:rPr lang="de-DE" smtClean="0"/>
              <a:t>17.09.2021</a:t>
            </a:fld>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11</a:t>
            </a:fld>
            <a:endParaRPr lang="de-DE" dirty="0"/>
          </a:p>
        </p:txBody>
      </p:sp>
      <p:sp>
        <p:nvSpPr>
          <p:cNvPr id="11" name="Textplatzhalter 10"/>
          <p:cNvSpPr>
            <a:spLocks noGrp="1"/>
          </p:cNvSpPr>
          <p:nvPr>
            <p:ph type="body" sz="quarter" idx="13"/>
          </p:nvPr>
        </p:nvSpPr>
        <p:spPr>
          <a:xfrm>
            <a:off x="5389392" y="2001809"/>
            <a:ext cx="5964407" cy="707704"/>
          </a:xfrm>
        </p:spPr>
        <p:txBody>
          <a:bodyPr>
            <a:normAutofit fontScale="77500" lnSpcReduction="20000"/>
          </a:bodyPr>
          <a:lstStyle/>
          <a:p>
            <a:r>
              <a:rPr lang="de-DE" dirty="0">
                <a:effectLst>
                  <a:outerShdw blurRad="38100" dist="38100" dir="2700000" algn="tl">
                    <a:srgbClr val="000000">
                      <a:alpha val="43137"/>
                    </a:srgbClr>
                  </a:outerShdw>
                </a:effectLst>
              </a:rPr>
              <a:t>MySQL Connector und </a:t>
            </a:r>
            <a:r>
              <a:rPr lang="de-DE" dirty="0" err="1">
                <a:effectLst>
                  <a:outerShdw blurRad="38100" dist="38100" dir="2700000" algn="tl">
                    <a:srgbClr val="000000">
                      <a:alpha val="43137"/>
                    </a:srgbClr>
                  </a:outerShdw>
                </a:effectLst>
              </a:rPr>
              <a:t>IntelliJ</a:t>
            </a:r>
            <a:endParaRPr lang="de-DE" dirty="0">
              <a:effectLst>
                <a:outerShdw blurRad="38100" dist="38100" dir="2700000" algn="tl">
                  <a:srgbClr val="000000">
                    <a:alpha val="43137"/>
                  </a:srgbClr>
                </a:outerShdw>
              </a:effectLst>
            </a:endParaRPr>
          </a:p>
        </p:txBody>
      </p:sp>
      <p:sp>
        <p:nvSpPr>
          <p:cNvPr id="12" name="Textplatzhalter 11"/>
          <p:cNvSpPr>
            <a:spLocks noGrp="1"/>
          </p:cNvSpPr>
          <p:nvPr>
            <p:ph type="body" sz="quarter" idx="14"/>
          </p:nvPr>
        </p:nvSpPr>
        <p:spPr/>
        <p:txBody>
          <a:bodyPr>
            <a:normAutofit lnSpcReduction="10000"/>
          </a:bodyPr>
          <a:lstStyle/>
          <a:p>
            <a:r>
              <a:rPr lang="de-DE" b="1" dirty="0" smtClean="0"/>
              <a:t>2.1 </a:t>
            </a:r>
            <a:r>
              <a:rPr lang="de-DE" b="1" dirty="0"/>
              <a:t>Download </a:t>
            </a:r>
            <a:endParaRPr lang="de-DE" b="1" dirty="0" smtClean="0"/>
          </a:p>
          <a:p>
            <a:r>
              <a:rPr lang="de-DE" b="1" dirty="0" smtClean="0"/>
              <a:t>2.2 </a:t>
            </a:r>
            <a:r>
              <a:rPr lang="de-DE" b="1" u="sng" dirty="0" smtClean="0"/>
              <a:t>Einrichten </a:t>
            </a:r>
            <a:r>
              <a:rPr lang="de-DE" b="1" u="sng" dirty="0"/>
              <a:t>der </a:t>
            </a:r>
            <a:r>
              <a:rPr lang="de-DE" b="1" u="sng" dirty="0" smtClean="0"/>
              <a:t>Entwicklungsumgebung</a:t>
            </a:r>
            <a:r>
              <a:rPr lang="de-DE" b="1" dirty="0" smtClean="0"/>
              <a:t> </a:t>
            </a:r>
            <a:r>
              <a:rPr lang="de-DE" b="1" dirty="0">
                <a:sym typeface="Wingdings" panose="05000000000000000000" pitchFamily="2" charset="2"/>
              </a:rPr>
              <a:t></a:t>
            </a:r>
            <a:endParaRPr lang="de-DE" b="1" dirty="0"/>
          </a:p>
          <a:p>
            <a:endParaRPr lang="de-DE" b="1" dirty="0"/>
          </a:p>
          <a:p>
            <a:endParaRPr lang="de-DE" dirty="0"/>
          </a:p>
        </p:txBody>
      </p:sp>
      <p:sp>
        <p:nvSpPr>
          <p:cNvPr id="13" name="Textplatzhalter 12"/>
          <p:cNvSpPr>
            <a:spLocks noGrp="1"/>
          </p:cNvSpPr>
          <p:nvPr>
            <p:ph type="body" sz="quarter" idx="15"/>
          </p:nvPr>
        </p:nvSpPr>
        <p:spPr/>
        <p:txBody>
          <a:bodyPr/>
          <a:lstStyle/>
          <a:p>
            <a:r>
              <a:rPr lang="de-DE" dirty="0" smtClean="0">
                <a:effectLst>
                  <a:outerShdw blurRad="38100" dist="38100" dir="2700000" algn="tl">
                    <a:srgbClr val="000000">
                      <a:alpha val="43137"/>
                    </a:srgbClr>
                  </a:outerShdw>
                </a:effectLst>
              </a:rPr>
              <a:t>02</a:t>
            </a:r>
            <a:endParaRPr lang="de-DE" dirty="0">
              <a:effectLst>
                <a:outerShdw blurRad="38100" dist="38100" dir="2700000" algn="tl">
                  <a:srgbClr val="000000">
                    <a:alpha val="43137"/>
                  </a:srgbClr>
                </a:outerShdw>
              </a:effectLst>
            </a:endParaRP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0"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dirty="0"/>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dirty="0"/>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dirty="0"/>
          </a:p>
        </p:txBody>
      </p:sp>
      <p:sp>
        <p:nvSpPr>
          <p:cNvPr id="20" name="Textplatzhalter 11"/>
          <p:cNvSpPr txBox="1">
            <a:spLocks/>
          </p:cNvSpPr>
          <p:nvPr/>
        </p:nvSpPr>
        <p:spPr>
          <a:xfrm>
            <a:off x="5389391" y="3725394"/>
            <a:ext cx="4874282" cy="19942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i="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smtClean="0"/>
              <a:t>Um in Java auf MySQL Datenbanken zugreifen zu können, muss ein MySQL Connector installiert werden. Auf diesen Connector werden wir in unseren Java Projekten, die Datenbanken verwenden sollen, verweisen.</a:t>
            </a:r>
            <a:endParaRPr lang="de-DE" dirty="0"/>
          </a:p>
        </p:txBody>
      </p:sp>
      <p:sp>
        <p:nvSpPr>
          <p:cNvPr id="2" name="Fußzeilenplatzhalter 1"/>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27382757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F4FC1BB6-E01A-48C9-B1E8-5B52FAA6F062}"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12</a:t>
            </a:fld>
            <a:endParaRPr lang="de-DE" dirty="0"/>
          </a:p>
        </p:txBody>
      </p:sp>
      <p:sp>
        <p:nvSpPr>
          <p:cNvPr id="9" name="Textplatzhalter 8"/>
          <p:cNvSpPr>
            <a:spLocks noGrp="1"/>
          </p:cNvSpPr>
          <p:nvPr>
            <p:ph type="body" sz="quarter" idx="15"/>
          </p:nvPr>
        </p:nvSpPr>
        <p:spPr>
          <a:xfrm>
            <a:off x="334963" y="4867274"/>
            <a:ext cx="5761037" cy="955028"/>
          </a:xfrm>
        </p:spPr>
        <p:txBody>
          <a:bodyPr>
            <a:normAutofit/>
          </a:bodyPr>
          <a:lstStyle/>
          <a:p>
            <a:pPr lvl="0"/>
            <a:r>
              <a:rPr lang="de-DE" sz="1700" dirty="0" smtClean="0"/>
              <a:t>Starten Sie </a:t>
            </a:r>
            <a:r>
              <a:rPr lang="de-DE" sz="1700" dirty="0" err="1" smtClean="0"/>
              <a:t>IntelliJ</a:t>
            </a:r>
            <a:r>
              <a:rPr lang="de-DE" sz="1700" dirty="0" smtClean="0"/>
              <a:t> mit einer einfachen Konsolenanwendung</a:t>
            </a:r>
          </a:p>
          <a:p>
            <a:pPr lvl="0"/>
            <a:r>
              <a:rPr lang="de-DE" sz="1700" dirty="0" smtClean="0"/>
              <a:t>Gehen Sie in </a:t>
            </a:r>
            <a:r>
              <a:rPr lang="de-DE" sz="1700" dirty="0" err="1" smtClean="0"/>
              <a:t>IntelliJ</a:t>
            </a:r>
            <a:r>
              <a:rPr lang="de-DE" sz="1700" dirty="0" smtClean="0"/>
              <a:t> auf File -&gt; Project </a:t>
            </a:r>
            <a:r>
              <a:rPr lang="de-DE" sz="1700" dirty="0" err="1" smtClean="0"/>
              <a:t>Structure</a:t>
            </a:r>
            <a:endParaRPr lang="de-DE" sz="1700" dirty="0"/>
          </a:p>
        </p:txBody>
      </p:sp>
      <p:sp>
        <p:nvSpPr>
          <p:cNvPr id="10" name="Textplatzhalter 9"/>
          <p:cNvSpPr>
            <a:spLocks noGrp="1"/>
          </p:cNvSpPr>
          <p:nvPr>
            <p:ph type="body" sz="quarter" idx="16"/>
          </p:nvPr>
        </p:nvSpPr>
        <p:spPr>
          <a:xfrm>
            <a:off x="6095999" y="4867275"/>
            <a:ext cx="5761037" cy="1057664"/>
          </a:xfrm>
        </p:spPr>
        <p:txBody>
          <a:bodyPr>
            <a:normAutofit/>
          </a:bodyPr>
          <a:lstStyle/>
          <a:p>
            <a:pPr lvl="0"/>
            <a:r>
              <a:rPr lang="de-DE" sz="1700" dirty="0" smtClean="0"/>
              <a:t>Im neuen Fenster gehen Sie links auf Libraries, klicken auf das + Symbol und wählen Sie die mysql-connector-java-x.x.xx.jar aus</a:t>
            </a:r>
          </a:p>
          <a:p>
            <a:pPr lvl="0"/>
            <a:r>
              <a:rPr lang="de-DE" sz="1700" dirty="0" smtClean="0"/>
              <a:t>Bestätigen Sie mit OK</a:t>
            </a:r>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pic>
        <p:nvPicPr>
          <p:cNvPr id="7" name="Bildplatzhalter 6"/>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19221" r="-19221"/>
          <a:stretch/>
        </p:blipFill>
        <p:spPr/>
      </p:pic>
      <p:pic>
        <p:nvPicPr>
          <p:cNvPr id="8" name="Bildplatzhalter 7"/>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t="-2813" b="-2813"/>
          <a:stretch/>
        </p:blipFill>
        <p:spPr/>
      </p:pic>
      <p:sp>
        <p:nvSpPr>
          <p:cNvPr id="13" name="Rechteck 12"/>
          <p:cNvSpPr/>
          <p:nvPr/>
        </p:nvSpPr>
        <p:spPr>
          <a:xfrm>
            <a:off x="334963" y="179790"/>
            <a:ext cx="3851311" cy="369332"/>
          </a:xfrm>
          <a:prstGeom prst="rect">
            <a:avLst/>
          </a:prstGeom>
        </p:spPr>
        <p:txBody>
          <a:bodyPr wrap="none">
            <a:spAutoFit/>
          </a:bodyPr>
          <a:lstStyle/>
          <a:p>
            <a:r>
              <a:rPr lang="de-DE" b="1" i="1" u="sng" dirty="0" smtClean="0"/>
              <a:t>Einrichten der Entwicklungsumgebung</a:t>
            </a:r>
            <a:endParaRPr lang="de-DE" b="1" i="1" u="sng" dirty="0"/>
          </a:p>
        </p:txBody>
      </p:sp>
      <p:cxnSp>
        <p:nvCxnSpPr>
          <p:cNvPr id="14" name="Gerade Verbindung mit Pfeil 13"/>
          <p:cNvCxnSpPr/>
          <p:nvPr/>
        </p:nvCxnSpPr>
        <p:spPr>
          <a:xfrm flipH="1">
            <a:off x="2445026" y="1014021"/>
            <a:ext cx="770456" cy="81458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7" name="Gerade Verbindung mit Pfeil 16"/>
          <p:cNvCxnSpPr/>
          <p:nvPr/>
        </p:nvCxnSpPr>
        <p:spPr>
          <a:xfrm>
            <a:off x="5623133" y="905855"/>
            <a:ext cx="674622" cy="5951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Gerade Verbindung mit Pfeil 17"/>
          <p:cNvCxnSpPr/>
          <p:nvPr/>
        </p:nvCxnSpPr>
        <p:spPr>
          <a:xfrm>
            <a:off x="6376241" y="310729"/>
            <a:ext cx="674622" cy="5951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p:cNvCxnSpPr/>
          <p:nvPr/>
        </p:nvCxnSpPr>
        <p:spPr>
          <a:xfrm flipH="1">
            <a:off x="9179944" y="2640650"/>
            <a:ext cx="604990" cy="54242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99660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pieren 8"/>
          <p:cNvGrpSpPr/>
          <p:nvPr/>
        </p:nvGrpSpPr>
        <p:grpSpPr>
          <a:xfrm>
            <a:off x="0" y="1966520"/>
            <a:ext cx="12192000" cy="4968482"/>
            <a:chOff x="0" y="2716065"/>
            <a:chExt cx="12192000" cy="4968482"/>
          </a:xfrm>
        </p:grpSpPr>
        <p:sp>
          <p:nvSpPr>
            <p:cNvPr id="10" name="Freihandform 9"/>
            <p:cNvSpPr/>
            <p:nvPr/>
          </p:nvSpPr>
          <p:spPr>
            <a:xfrm>
              <a:off x="0" y="2760671"/>
              <a:ext cx="12192000" cy="4923876"/>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 name="connsiteX0" fmla="*/ 0 w 12201054"/>
                <a:gd name="connsiteY0" fmla="*/ 0 h 4864883"/>
                <a:gd name="connsiteX1" fmla="*/ 3454269 w 12201054"/>
                <a:gd name="connsiteY1" fmla="*/ 0 h 4864883"/>
                <a:gd name="connsiteX2" fmla="*/ 3825090 w 12201054"/>
                <a:gd name="connsiteY2" fmla="*/ 351771 h 4864883"/>
                <a:gd name="connsiteX3" fmla="*/ 4195910 w 12201054"/>
                <a:gd name="connsiteY3" fmla="*/ 0 h 4864883"/>
                <a:gd name="connsiteX4" fmla="*/ 12192000 w 12201054"/>
                <a:gd name="connsiteY4" fmla="*/ 0 h 4864883"/>
                <a:gd name="connsiteX5" fmla="*/ 12201054 w 12201054"/>
                <a:gd name="connsiteY5" fmla="*/ 4097966 h 4864883"/>
                <a:gd name="connsiteX6" fmla="*/ 0 w 12201054"/>
                <a:gd name="connsiteY6" fmla="*/ 4864883 h 4864883"/>
                <a:gd name="connsiteX7" fmla="*/ 0 w 12201054"/>
                <a:gd name="connsiteY7" fmla="*/ 0 h 4864883"/>
                <a:gd name="connsiteX0" fmla="*/ 0 w 12192000"/>
                <a:gd name="connsiteY0" fmla="*/ 0 h 4923876"/>
                <a:gd name="connsiteX1" fmla="*/ 3454269 w 12192000"/>
                <a:gd name="connsiteY1" fmla="*/ 0 h 4923876"/>
                <a:gd name="connsiteX2" fmla="*/ 3825090 w 12192000"/>
                <a:gd name="connsiteY2" fmla="*/ 351771 h 4923876"/>
                <a:gd name="connsiteX3" fmla="*/ 4195910 w 12192000"/>
                <a:gd name="connsiteY3" fmla="*/ 0 h 4923876"/>
                <a:gd name="connsiteX4" fmla="*/ 12192000 w 12192000"/>
                <a:gd name="connsiteY4" fmla="*/ 0 h 4923876"/>
                <a:gd name="connsiteX5" fmla="*/ 12171558 w 12192000"/>
                <a:gd name="connsiteY5" fmla="*/ 4923876 h 4923876"/>
                <a:gd name="connsiteX6" fmla="*/ 0 w 12192000"/>
                <a:gd name="connsiteY6" fmla="*/ 4864883 h 4923876"/>
                <a:gd name="connsiteX7" fmla="*/ 0 w 12192000"/>
                <a:gd name="connsiteY7" fmla="*/ 0 h 4923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923876">
                  <a:moveTo>
                    <a:pt x="0" y="0"/>
                  </a:moveTo>
                  <a:lnTo>
                    <a:pt x="3454269" y="0"/>
                  </a:lnTo>
                  <a:lnTo>
                    <a:pt x="3825090" y="351771"/>
                  </a:lnTo>
                  <a:lnTo>
                    <a:pt x="4195910" y="0"/>
                  </a:lnTo>
                  <a:lnTo>
                    <a:pt x="12192000" y="0"/>
                  </a:lnTo>
                  <a:lnTo>
                    <a:pt x="12171558" y="4923876"/>
                  </a:lnTo>
                  <a:lnTo>
                    <a:pt x="0" y="4864883"/>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pic>
        <p:nvPicPr>
          <p:cNvPr id="12" name="Grafik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Datumsplatzhalter 1"/>
          <p:cNvSpPr>
            <a:spLocks noGrp="1"/>
          </p:cNvSpPr>
          <p:nvPr>
            <p:ph type="dt" sz="half" idx="10"/>
          </p:nvPr>
        </p:nvSpPr>
        <p:spPr/>
        <p:txBody>
          <a:bodyPr/>
          <a:lstStyle/>
          <a:p>
            <a:fld id="{1D54AA6D-53DF-4425-95BC-27E78AC97A50}"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13</a:t>
            </a:fld>
            <a:endParaRPr lang="de-DE" dirty="0"/>
          </a:p>
        </p:txBody>
      </p:sp>
      <p:sp>
        <p:nvSpPr>
          <p:cNvPr id="7" name="Textplatzhalter 6"/>
          <p:cNvSpPr>
            <a:spLocks noGrp="1"/>
          </p:cNvSpPr>
          <p:nvPr>
            <p:ph type="body" sz="quarter" idx="13"/>
          </p:nvPr>
        </p:nvSpPr>
        <p:spPr/>
        <p:txBody>
          <a:bodyPr/>
          <a:lstStyle/>
          <a:p>
            <a:r>
              <a:rPr lang="de-DE" dirty="0" smtClean="0"/>
              <a:t>„Sie haben erfolgreich den MySQL Connector installiert.“</a:t>
            </a:r>
            <a:endParaRPr lang="de-DE" dirty="0"/>
          </a:p>
          <a:p>
            <a:endParaRPr lang="de-DE" dirty="0"/>
          </a:p>
        </p:txBody>
      </p:sp>
      <p:sp>
        <p:nvSpPr>
          <p:cNvPr id="13" name="Bildplatzhalter 12"/>
          <p:cNvSpPr>
            <a:spLocks noGrp="1"/>
          </p:cNvSpPr>
          <p:nvPr>
            <p:ph type="pic" sz="quarter" idx="15"/>
          </p:nvPr>
        </p:nvSpPr>
        <p:spPr/>
      </p:sp>
      <p:sp>
        <p:nvSpPr>
          <p:cNvPr id="14" name="Grafik 83" descr="Chatblase">
            <a:extLst>
              <a:ext uri="{FF2B5EF4-FFF2-40B4-BE49-F238E27FC236}">
                <a16:creationId xmlns:a16="http://schemas.microsoft.com/office/drawing/2014/main" id="{E7B84235-00E5-4994-AE25-BF02D689C651}"/>
              </a:ext>
            </a:extLst>
          </p:cNvPr>
          <p:cNvSpPr/>
          <p:nvPr/>
        </p:nvSpPr>
        <p:spPr>
          <a:xfrm>
            <a:off x="702895" y="4648381"/>
            <a:ext cx="1049705" cy="957082"/>
          </a:xfrm>
          <a:custGeom>
            <a:avLst/>
            <a:gdLst>
              <a:gd name="connsiteX0" fmla="*/ 477502 w 502634"/>
              <a:gd name="connsiteY0" fmla="*/ 0 h 458283"/>
              <a:gd name="connsiteX1" fmla="*/ 25132 w 502634"/>
              <a:gd name="connsiteY1" fmla="*/ 0 h 458283"/>
              <a:gd name="connsiteX2" fmla="*/ 0 w 502634"/>
              <a:gd name="connsiteY2" fmla="*/ 25427 h 458283"/>
              <a:gd name="connsiteX3" fmla="*/ 0 w 502634"/>
              <a:gd name="connsiteY3" fmla="*/ 25427 h 458283"/>
              <a:gd name="connsiteX4" fmla="*/ 0 w 502634"/>
              <a:gd name="connsiteY4" fmla="*/ 330999 h 458283"/>
              <a:gd name="connsiteX5" fmla="*/ 25131 w 502634"/>
              <a:gd name="connsiteY5" fmla="*/ 356426 h 458283"/>
              <a:gd name="connsiteX6" fmla="*/ 25132 w 502634"/>
              <a:gd name="connsiteY6" fmla="*/ 356426 h 458283"/>
              <a:gd name="connsiteX7" fmla="*/ 301580 w 502634"/>
              <a:gd name="connsiteY7" fmla="*/ 356426 h 458283"/>
              <a:gd name="connsiteX8" fmla="*/ 402107 w 502634"/>
              <a:gd name="connsiteY8" fmla="*/ 458283 h 458283"/>
              <a:gd name="connsiteX9" fmla="*/ 402107 w 502634"/>
              <a:gd name="connsiteY9" fmla="*/ 356426 h 458283"/>
              <a:gd name="connsiteX10" fmla="*/ 477502 w 502634"/>
              <a:gd name="connsiteY10" fmla="*/ 356426 h 458283"/>
              <a:gd name="connsiteX11" fmla="*/ 502634 w 502634"/>
              <a:gd name="connsiteY11" fmla="*/ 331000 h 458283"/>
              <a:gd name="connsiteX12" fmla="*/ 502634 w 502634"/>
              <a:gd name="connsiteY12" fmla="*/ 330999 h 458283"/>
              <a:gd name="connsiteX13" fmla="*/ 502634 w 502634"/>
              <a:gd name="connsiteY13" fmla="*/ 25427 h 458283"/>
              <a:gd name="connsiteX14" fmla="*/ 477503 w 502634"/>
              <a:gd name="connsiteY14" fmla="*/ 0 h 458283"/>
              <a:gd name="connsiteX15" fmla="*/ 477502 w 502634"/>
              <a:gd name="connsiteY15" fmla="*/ 0 h 458283"/>
              <a:gd name="connsiteX16" fmla="*/ 133050 w 502634"/>
              <a:gd name="connsiteY16" fmla="*/ 214358 h 458283"/>
              <a:gd name="connsiteX17" fmla="*/ 96092 w 502634"/>
              <a:gd name="connsiteY17" fmla="*/ 177400 h 458283"/>
              <a:gd name="connsiteX18" fmla="*/ 133050 w 502634"/>
              <a:gd name="connsiteY18" fmla="*/ 140442 h 458283"/>
              <a:gd name="connsiteX19" fmla="*/ 170009 w 502634"/>
              <a:gd name="connsiteY19" fmla="*/ 177400 h 458283"/>
              <a:gd name="connsiteX20" fmla="*/ 133050 w 502634"/>
              <a:gd name="connsiteY20" fmla="*/ 214358 h 458283"/>
              <a:gd name="connsiteX21" fmla="*/ 251317 w 502634"/>
              <a:gd name="connsiteY21" fmla="*/ 214358 h 458283"/>
              <a:gd name="connsiteX22" fmla="*/ 214359 w 502634"/>
              <a:gd name="connsiteY22" fmla="*/ 177400 h 458283"/>
              <a:gd name="connsiteX23" fmla="*/ 251317 w 502634"/>
              <a:gd name="connsiteY23" fmla="*/ 140442 h 458283"/>
              <a:gd name="connsiteX24" fmla="*/ 288275 w 502634"/>
              <a:gd name="connsiteY24" fmla="*/ 177400 h 458283"/>
              <a:gd name="connsiteX25" fmla="*/ 251317 w 502634"/>
              <a:gd name="connsiteY25" fmla="*/ 214358 h 458283"/>
              <a:gd name="connsiteX26" fmla="*/ 369584 w 502634"/>
              <a:gd name="connsiteY26" fmla="*/ 214358 h 458283"/>
              <a:gd name="connsiteX27" fmla="*/ 332625 w 502634"/>
              <a:gd name="connsiteY27" fmla="*/ 177400 h 458283"/>
              <a:gd name="connsiteX28" fmla="*/ 369584 w 502634"/>
              <a:gd name="connsiteY28" fmla="*/ 140442 h 458283"/>
              <a:gd name="connsiteX29" fmla="*/ 406542 w 502634"/>
              <a:gd name="connsiteY29" fmla="*/ 177400 h 458283"/>
              <a:gd name="connsiteX30" fmla="*/ 369584 w 502634"/>
              <a:gd name="connsiteY30" fmla="*/ 214358 h 45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02634" h="458283">
                <a:moveTo>
                  <a:pt x="477502" y="0"/>
                </a:moveTo>
                <a:lnTo>
                  <a:pt x="25132" y="0"/>
                </a:lnTo>
                <a:cubicBezTo>
                  <a:pt x="11171" y="81"/>
                  <a:pt x="-81" y="11465"/>
                  <a:pt x="0" y="25427"/>
                </a:cubicBezTo>
                <a:cubicBezTo>
                  <a:pt x="0" y="25427"/>
                  <a:pt x="0" y="25427"/>
                  <a:pt x="0" y="25427"/>
                </a:cubicBezTo>
                <a:lnTo>
                  <a:pt x="0" y="330999"/>
                </a:lnTo>
                <a:cubicBezTo>
                  <a:pt x="-82" y="344960"/>
                  <a:pt x="11170" y="356344"/>
                  <a:pt x="25131" y="356426"/>
                </a:cubicBezTo>
                <a:cubicBezTo>
                  <a:pt x="25131" y="356426"/>
                  <a:pt x="25132" y="356426"/>
                  <a:pt x="25132" y="356426"/>
                </a:cubicBezTo>
                <a:lnTo>
                  <a:pt x="301580" y="356426"/>
                </a:lnTo>
                <a:lnTo>
                  <a:pt x="402107" y="458283"/>
                </a:lnTo>
                <a:lnTo>
                  <a:pt x="402107" y="356426"/>
                </a:lnTo>
                <a:lnTo>
                  <a:pt x="477502" y="356426"/>
                </a:lnTo>
                <a:cubicBezTo>
                  <a:pt x="491464" y="356345"/>
                  <a:pt x="502715" y="344961"/>
                  <a:pt x="502634" y="331000"/>
                </a:cubicBezTo>
                <a:cubicBezTo>
                  <a:pt x="502634" y="331000"/>
                  <a:pt x="502634" y="330999"/>
                  <a:pt x="502634" y="330999"/>
                </a:cubicBezTo>
                <a:lnTo>
                  <a:pt x="502634" y="25427"/>
                </a:lnTo>
                <a:cubicBezTo>
                  <a:pt x="502716" y="11466"/>
                  <a:pt x="491464" y="82"/>
                  <a:pt x="477503" y="0"/>
                </a:cubicBezTo>
                <a:cubicBezTo>
                  <a:pt x="477503" y="0"/>
                  <a:pt x="477502" y="0"/>
                  <a:pt x="477502" y="0"/>
                </a:cubicBezTo>
                <a:close/>
                <a:moveTo>
                  <a:pt x="133050" y="214358"/>
                </a:moveTo>
                <a:cubicBezTo>
                  <a:pt x="112639" y="214358"/>
                  <a:pt x="96092" y="197811"/>
                  <a:pt x="96092" y="177400"/>
                </a:cubicBezTo>
                <a:cubicBezTo>
                  <a:pt x="96092" y="156989"/>
                  <a:pt x="112639" y="140442"/>
                  <a:pt x="133050" y="140442"/>
                </a:cubicBezTo>
                <a:cubicBezTo>
                  <a:pt x="153462" y="140442"/>
                  <a:pt x="170009" y="156989"/>
                  <a:pt x="170009" y="177400"/>
                </a:cubicBezTo>
                <a:cubicBezTo>
                  <a:pt x="170009" y="197811"/>
                  <a:pt x="153462" y="214358"/>
                  <a:pt x="133050" y="214358"/>
                </a:cubicBezTo>
                <a:close/>
                <a:moveTo>
                  <a:pt x="251317" y="214358"/>
                </a:moveTo>
                <a:cubicBezTo>
                  <a:pt x="230906" y="214358"/>
                  <a:pt x="214359" y="197811"/>
                  <a:pt x="214359" y="177400"/>
                </a:cubicBezTo>
                <a:cubicBezTo>
                  <a:pt x="214359" y="156989"/>
                  <a:pt x="230906" y="140442"/>
                  <a:pt x="251317" y="140442"/>
                </a:cubicBezTo>
                <a:cubicBezTo>
                  <a:pt x="271728" y="140442"/>
                  <a:pt x="288275" y="156989"/>
                  <a:pt x="288275" y="177400"/>
                </a:cubicBezTo>
                <a:cubicBezTo>
                  <a:pt x="288275" y="197811"/>
                  <a:pt x="271728" y="214358"/>
                  <a:pt x="251317" y="214358"/>
                </a:cubicBezTo>
                <a:close/>
                <a:moveTo>
                  <a:pt x="369584" y="214358"/>
                </a:moveTo>
                <a:cubicBezTo>
                  <a:pt x="349172" y="214358"/>
                  <a:pt x="332625" y="197811"/>
                  <a:pt x="332625" y="177400"/>
                </a:cubicBezTo>
                <a:cubicBezTo>
                  <a:pt x="332625" y="156989"/>
                  <a:pt x="349172" y="140442"/>
                  <a:pt x="369584" y="140442"/>
                </a:cubicBezTo>
                <a:cubicBezTo>
                  <a:pt x="389995" y="140442"/>
                  <a:pt x="406542" y="156989"/>
                  <a:pt x="406542" y="177400"/>
                </a:cubicBezTo>
                <a:cubicBezTo>
                  <a:pt x="406542" y="197811"/>
                  <a:pt x="389995" y="214358"/>
                  <a:pt x="369584" y="214358"/>
                </a:cubicBezTo>
                <a:close/>
              </a:path>
            </a:pathLst>
          </a:custGeom>
          <a:solidFill>
            <a:srgbClr val="FFFFFF"/>
          </a:solidFill>
          <a:ln w="7342" cap="flat">
            <a:noFill/>
            <a:prstDash val="solid"/>
            <a:miter/>
          </a:ln>
        </p:spPr>
        <p:txBody>
          <a:bodyPr rtlCol="0" anchor="ctr"/>
          <a:lstStyle/>
          <a:p>
            <a:endParaRPr lang="de-DE" dirty="0"/>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7482911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F2780E2D-CA18-4491-8EA1-DD3CE538A23C}" type="datetime1">
              <a:rPr lang="de-DE" smtClean="0"/>
              <a:t>17.09.2021</a:t>
            </a:fld>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14</a:t>
            </a:fld>
            <a:endParaRPr lang="de-DE" dirty="0"/>
          </a:p>
        </p:txBody>
      </p:sp>
      <p:sp>
        <p:nvSpPr>
          <p:cNvPr id="11" name="Textplatzhalter 10"/>
          <p:cNvSpPr>
            <a:spLocks noGrp="1"/>
          </p:cNvSpPr>
          <p:nvPr>
            <p:ph type="body" sz="quarter" idx="13"/>
          </p:nvPr>
        </p:nvSpPr>
        <p:spPr>
          <a:xfrm>
            <a:off x="5389391" y="2001809"/>
            <a:ext cx="5964407" cy="707704"/>
          </a:xfrm>
        </p:spPr>
        <p:txBody>
          <a:bodyPr>
            <a:normAutofit fontScale="85000" lnSpcReduction="10000"/>
          </a:bodyPr>
          <a:lstStyle/>
          <a:p>
            <a:r>
              <a:rPr lang="de-DE" dirty="0" smtClean="0">
                <a:effectLst>
                  <a:outerShdw blurRad="38100" dist="38100" dir="2700000" algn="tl">
                    <a:srgbClr val="000000">
                      <a:alpha val="43137"/>
                    </a:srgbClr>
                  </a:outerShdw>
                </a:effectLst>
              </a:rPr>
              <a:t>PHP </a:t>
            </a:r>
            <a:r>
              <a:rPr lang="de-DE" dirty="0" err="1" smtClean="0">
                <a:effectLst>
                  <a:outerShdw blurRad="38100" dist="38100" dir="2700000" algn="tl">
                    <a:srgbClr val="000000">
                      <a:alpha val="43137"/>
                    </a:srgbClr>
                  </a:outerShdw>
                </a:effectLst>
              </a:rPr>
              <a:t>My</a:t>
            </a:r>
            <a:r>
              <a:rPr lang="de-DE" dirty="0" smtClean="0">
                <a:effectLst>
                  <a:outerShdw blurRad="38100" dist="38100" dir="2700000" algn="tl">
                    <a:srgbClr val="000000">
                      <a:alpha val="43137"/>
                    </a:srgbClr>
                  </a:outerShdw>
                </a:effectLst>
              </a:rPr>
              <a:t> Admin und </a:t>
            </a:r>
            <a:r>
              <a:rPr lang="de-DE" dirty="0" err="1" smtClean="0">
                <a:effectLst>
                  <a:outerShdw blurRad="38100" dist="38100" dir="2700000" algn="tl">
                    <a:srgbClr val="000000">
                      <a:alpha val="43137"/>
                    </a:srgbClr>
                  </a:outerShdw>
                </a:effectLst>
              </a:rPr>
              <a:t>IntelliJ</a:t>
            </a:r>
            <a:endParaRPr lang="de-DE" dirty="0">
              <a:effectLst>
                <a:outerShdw blurRad="38100" dist="38100" dir="2700000" algn="tl">
                  <a:srgbClr val="000000">
                    <a:alpha val="43137"/>
                  </a:srgbClr>
                </a:outerShdw>
              </a:effectLst>
            </a:endParaRPr>
          </a:p>
        </p:txBody>
      </p:sp>
      <p:sp>
        <p:nvSpPr>
          <p:cNvPr id="12" name="Textplatzhalter 11"/>
          <p:cNvSpPr>
            <a:spLocks noGrp="1"/>
          </p:cNvSpPr>
          <p:nvPr>
            <p:ph type="body" sz="quarter" idx="14"/>
          </p:nvPr>
        </p:nvSpPr>
        <p:spPr/>
        <p:txBody>
          <a:bodyPr>
            <a:normAutofit fontScale="92500" lnSpcReduction="10000"/>
          </a:bodyPr>
          <a:lstStyle/>
          <a:p>
            <a:r>
              <a:rPr lang="de-DE" b="1" dirty="0"/>
              <a:t>3.1 </a:t>
            </a:r>
            <a:r>
              <a:rPr lang="de-DE" b="1" u="sng" dirty="0"/>
              <a:t>Datenbank in PHP </a:t>
            </a:r>
            <a:r>
              <a:rPr lang="de-DE" b="1" u="sng" dirty="0" err="1"/>
              <a:t>My</a:t>
            </a:r>
            <a:r>
              <a:rPr lang="de-DE" b="1" u="sng" dirty="0"/>
              <a:t> Admin </a:t>
            </a:r>
            <a:r>
              <a:rPr lang="de-DE" b="1" u="sng" dirty="0" smtClean="0"/>
              <a:t>erstellen</a:t>
            </a:r>
            <a:r>
              <a:rPr lang="de-DE" b="1" dirty="0" smtClean="0"/>
              <a:t> </a:t>
            </a:r>
            <a:r>
              <a:rPr lang="de-DE" b="1" dirty="0" smtClean="0">
                <a:sym typeface="Wingdings" panose="05000000000000000000" pitchFamily="2" charset="2"/>
              </a:rPr>
              <a:t></a:t>
            </a:r>
            <a:endParaRPr lang="de-DE" b="1" dirty="0"/>
          </a:p>
          <a:p>
            <a:r>
              <a:rPr lang="de-DE" b="1" dirty="0"/>
              <a:t>3.2 Datenbankabfrage </a:t>
            </a:r>
            <a:r>
              <a:rPr lang="de-DE" b="1" dirty="0" smtClean="0"/>
              <a:t>in </a:t>
            </a:r>
            <a:r>
              <a:rPr lang="de-DE" b="1" dirty="0"/>
              <a:t>Java</a:t>
            </a:r>
          </a:p>
        </p:txBody>
      </p:sp>
      <p:sp>
        <p:nvSpPr>
          <p:cNvPr id="13" name="Textplatzhalter 12"/>
          <p:cNvSpPr>
            <a:spLocks noGrp="1"/>
          </p:cNvSpPr>
          <p:nvPr>
            <p:ph type="body" sz="quarter" idx="15"/>
          </p:nvPr>
        </p:nvSpPr>
        <p:spPr/>
        <p:txBody>
          <a:bodyPr/>
          <a:lstStyle/>
          <a:p>
            <a:r>
              <a:rPr lang="de-DE" dirty="0" smtClean="0">
                <a:effectLst>
                  <a:outerShdw blurRad="38100" dist="38100" dir="2700000" algn="tl">
                    <a:srgbClr val="000000">
                      <a:alpha val="43137"/>
                    </a:srgbClr>
                  </a:outerShdw>
                </a:effectLst>
              </a:rPr>
              <a:t>03</a:t>
            </a:r>
            <a:endParaRPr lang="de-DE" dirty="0">
              <a:effectLst>
                <a:outerShdw blurRad="38100" dist="38100" dir="2700000" algn="tl">
                  <a:srgbClr val="000000">
                    <a:alpha val="43137"/>
                  </a:srgbClr>
                </a:outerShdw>
              </a:effectLst>
            </a:endParaRP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0"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dirty="0"/>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dirty="0"/>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dirty="0"/>
          </a:p>
        </p:txBody>
      </p:sp>
      <p:sp>
        <p:nvSpPr>
          <p:cNvPr id="20" name="Textplatzhalter 11"/>
          <p:cNvSpPr txBox="1">
            <a:spLocks/>
          </p:cNvSpPr>
          <p:nvPr/>
        </p:nvSpPr>
        <p:spPr>
          <a:xfrm>
            <a:off x="5389391" y="3725394"/>
            <a:ext cx="4874282" cy="19942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i="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smtClean="0"/>
              <a:t>Zuerst erstellen wir eine Testdatenbank mit einer Tabelle und Beispieldaten in PHP </a:t>
            </a:r>
            <a:r>
              <a:rPr lang="de-DE" dirty="0" err="1" smtClean="0"/>
              <a:t>My</a:t>
            </a:r>
            <a:r>
              <a:rPr lang="de-DE" dirty="0" smtClean="0"/>
              <a:t> Admin und fragen diese Tabelle anschließend in Java ab.</a:t>
            </a:r>
            <a:endParaRPr lang="de-DE" dirty="0"/>
          </a:p>
        </p:txBody>
      </p:sp>
      <p:sp>
        <p:nvSpPr>
          <p:cNvPr id="2" name="Fußzeilenplatzhalter 1"/>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32829738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42DE4F5-4974-4A4C-B9B7-9BBEDC65B03B}"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t>Datenbankverbindung mit IntelliJ und MySQL</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15</a:t>
            </a:fld>
            <a:endParaRPr lang="de-DE" dirty="0"/>
          </a:p>
        </p:txBody>
      </p:sp>
      <p:pic>
        <p:nvPicPr>
          <p:cNvPr id="10" name="Bildplatzhalter 9"/>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7138" b="-7138"/>
          <a:stretch/>
        </p:blipFill>
        <p:spPr/>
      </p:pic>
      <p:pic>
        <p:nvPicPr>
          <p:cNvPr id="11" name="Bildplatzhalter 10"/>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t="-16844" b="-16844"/>
          <a:stretch/>
        </p:blipFill>
        <p:spPr/>
      </p:pic>
      <p:sp>
        <p:nvSpPr>
          <p:cNvPr id="7" name="Textplatzhalter 6"/>
          <p:cNvSpPr>
            <a:spLocks noGrp="1"/>
          </p:cNvSpPr>
          <p:nvPr>
            <p:ph type="body" sz="quarter" idx="15"/>
          </p:nvPr>
        </p:nvSpPr>
        <p:spPr>
          <a:xfrm>
            <a:off x="334963" y="4867275"/>
            <a:ext cx="5761037" cy="843382"/>
          </a:xfrm>
        </p:spPr>
        <p:txBody>
          <a:bodyPr>
            <a:normAutofit fontScale="70000" lnSpcReduction="20000"/>
          </a:bodyPr>
          <a:lstStyle/>
          <a:p>
            <a:r>
              <a:rPr lang="de-DE" dirty="0" smtClean="0"/>
              <a:t>Starten Sie XAMPP, Apache und MySQL</a:t>
            </a:r>
          </a:p>
          <a:p>
            <a:r>
              <a:rPr lang="de-DE" dirty="0" smtClean="0"/>
              <a:t>Klicken Sie bei MySQL auf Admin</a:t>
            </a:r>
          </a:p>
          <a:p>
            <a:r>
              <a:rPr lang="de-DE" dirty="0" smtClean="0"/>
              <a:t>Es öffnet sich ein Browser mit PHP </a:t>
            </a:r>
            <a:r>
              <a:rPr lang="de-DE" dirty="0" err="1" smtClean="0"/>
              <a:t>My</a:t>
            </a:r>
            <a:r>
              <a:rPr lang="de-DE" dirty="0" smtClean="0"/>
              <a:t> Admin</a:t>
            </a:r>
            <a:endParaRPr lang="de-DE" dirty="0"/>
          </a:p>
        </p:txBody>
      </p:sp>
      <p:sp>
        <p:nvSpPr>
          <p:cNvPr id="8" name="Textplatzhalter 7"/>
          <p:cNvSpPr>
            <a:spLocks noGrp="1"/>
          </p:cNvSpPr>
          <p:nvPr>
            <p:ph type="body" sz="quarter" idx="16"/>
          </p:nvPr>
        </p:nvSpPr>
        <p:spPr>
          <a:xfrm>
            <a:off x="6095999" y="4867275"/>
            <a:ext cx="5761037" cy="843382"/>
          </a:xfrm>
        </p:spPr>
        <p:txBody>
          <a:bodyPr>
            <a:normAutofit/>
          </a:bodyPr>
          <a:lstStyle/>
          <a:p>
            <a:r>
              <a:rPr lang="de-DE" sz="1700" dirty="0" smtClean="0"/>
              <a:t>Navigieren Sie zu den Datenbanken und erstellen Sie die Datenbank „</a:t>
            </a:r>
            <a:r>
              <a:rPr lang="de-DE" sz="1700" dirty="0" err="1" smtClean="0"/>
              <a:t>MyDatabase</a:t>
            </a:r>
            <a:r>
              <a:rPr lang="de-DE" sz="1700" dirty="0" smtClean="0"/>
              <a:t>“</a:t>
            </a:r>
            <a:endParaRPr lang="de-DE" sz="1700" dirty="0"/>
          </a:p>
        </p:txBody>
      </p:sp>
      <p:sp>
        <p:nvSpPr>
          <p:cNvPr id="9" name="Rechteck 8"/>
          <p:cNvSpPr/>
          <p:nvPr/>
        </p:nvSpPr>
        <p:spPr>
          <a:xfrm>
            <a:off x="334963" y="179790"/>
            <a:ext cx="3837525" cy="369332"/>
          </a:xfrm>
          <a:prstGeom prst="rect">
            <a:avLst/>
          </a:prstGeom>
        </p:spPr>
        <p:txBody>
          <a:bodyPr wrap="none">
            <a:spAutoFit/>
          </a:bodyPr>
          <a:lstStyle/>
          <a:p>
            <a:r>
              <a:rPr lang="de-DE" b="1" i="1" u="sng" dirty="0" smtClean="0"/>
              <a:t>Datenbank in PHP </a:t>
            </a:r>
            <a:r>
              <a:rPr lang="de-DE" b="1" i="1" u="sng" dirty="0" err="1" smtClean="0"/>
              <a:t>My</a:t>
            </a:r>
            <a:r>
              <a:rPr lang="de-DE" b="1" i="1" u="sng" dirty="0" smtClean="0"/>
              <a:t> Admin erstellen</a:t>
            </a:r>
            <a:endParaRPr lang="de-DE" b="1" i="1" u="sng" dirty="0"/>
          </a:p>
        </p:txBody>
      </p:sp>
      <p:cxnSp>
        <p:nvCxnSpPr>
          <p:cNvPr id="12" name="Gerade Verbindung mit Pfeil 11"/>
          <p:cNvCxnSpPr/>
          <p:nvPr/>
        </p:nvCxnSpPr>
        <p:spPr>
          <a:xfrm flipH="1">
            <a:off x="3949046" y="1392964"/>
            <a:ext cx="511859" cy="59801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25199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2DB1CFE-9DD4-42B5-8FBD-D67CD1B6BEA2}"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t>Datenbankverbindung mit IntelliJ und MySQL</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16</a:t>
            </a:fld>
            <a:endParaRPr lang="de-DE" dirty="0"/>
          </a:p>
        </p:txBody>
      </p:sp>
      <p:sp>
        <p:nvSpPr>
          <p:cNvPr id="7" name="Textplatzhalter 6"/>
          <p:cNvSpPr>
            <a:spLocks noGrp="1"/>
          </p:cNvSpPr>
          <p:nvPr>
            <p:ph type="body" sz="quarter" idx="15"/>
          </p:nvPr>
        </p:nvSpPr>
        <p:spPr>
          <a:xfrm>
            <a:off x="334963" y="4867275"/>
            <a:ext cx="5761037" cy="843382"/>
          </a:xfrm>
        </p:spPr>
        <p:txBody>
          <a:bodyPr>
            <a:normAutofit/>
          </a:bodyPr>
          <a:lstStyle/>
          <a:p>
            <a:r>
              <a:rPr lang="de-DE" sz="1700" dirty="0" smtClean="0"/>
              <a:t>Erzeugen Sie die Tabelle „</a:t>
            </a:r>
            <a:r>
              <a:rPr lang="de-DE" sz="1700" dirty="0" err="1" smtClean="0"/>
              <a:t>MyTable</a:t>
            </a:r>
            <a:r>
              <a:rPr lang="de-DE" sz="1700" dirty="0" smtClean="0"/>
              <a:t>“  mit 4 Spalten und klicken Sie auf OK</a:t>
            </a:r>
            <a:endParaRPr lang="de-DE" sz="1700" dirty="0"/>
          </a:p>
        </p:txBody>
      </p:sp>
      <p:sp>
        <p:nvSpPr>
          <p:cNvPr id="8" name="Textplatzhalter 7"/>
          <p:cNvSpPr>
            <a:spLocks noGrp="1"/>
          </p:cNvSpPr>
          <p:nvPr>
            <p:ph type="body" sz="quarter" idx="16"/>
          </p:nvPr>
        </p:nvSpPr>
        <p:spPr>
          <a:xfrm>
            <a:off x="6095999" y="4867275"/>
            <a:ext cx="5761037" cy="843382"/>
          </a:xfrm>
        </p:spPr>
        <p:txBody>
          <a:bodyPr>
            <a:normAutofit lnSpcReduction="10000"/>
          </a:bodyPr>
          <a:lstStyle/>
          <a:p>
            <a:r>
              <a:rPr lang="de-DE" sz="1700" dirty="0" smtClean="0"/>
              <a:t>Erstellen Sie die Spalten „ID“, „Name“, „Beschreibung“, „Wert“ mit INT, TEXT, TEXT und DECIMAL entsprechend.</a:t>
            </a:r>
          </a:p>
          <a:p>
            <a:r>
              <a:rPr lang="de-DE" sz="1700" dirty="0" smtClean="0"/>
              <a:t>Klicken Sie anschließend unten auf Speichern</a:t>
            </a:r>
            <a:endParaRPr lang="de-DE" sz="1700" dirty="0"/>
          </a:p>
        </p:txBody>
      </p:sp>
      <p:sp>
        <p:nvSpPr>
          <p:cNvPr id="9" name="Rechteck 8"/>
          <p:cNvSpPr/>
          <p:nvPr/>
        </p:nvSpPr>
        <p:spPr>
          <a:xfrm>
            <a:off x="334963" y="179790"/>
            <a:ext cx="3837525" cy="369332"/>
          </a:xfrm>
          <a:prstGeom prst="rect">
            <a:avLst/>
          </a:prstGeom>
        </p:spPr>
        <p:txBody>
          <a:bodyPr wrap="none">
            <a:spAutoFit/>
          </a:bodyPr>
          <a:lstStyle/>
          <a:p>
            <a:r>
              <a:rPr lang="de-DE" b="1" i="1" u="sng" dirty="0" smtClean="0"/>
              <a:t>Datenbank in PHP </a:t>
            </a:r>
            <a:r>
              <a:rPr lang="de-DE" b="1" i="1" u="sng" dirty="0" err="1" smtClean="0"/>
              <a:t>My</a:t>
            </a:r>
            <a:r>
              <a:rPr lang="de-DE" b="1" i="1" u="sng" dirty="0" smtClean="0"/>
              <a:t> Admin erstellen</a:t>
            </a:r>
            <a:endParaRPr lang="de-DE" b="1" i="1" u="sng" dirty="0"/>
          </a:p>
        </p:txBody>
      </p:sp>
      <p:pic>
        <p:nvPicPr>
          <p:cNvPr id="13" name="Bildplatzhalter 12"/>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15986" b="-15986"/>
          <a:stretch/>
        </p:blipFill>
        <p:spPr>
          <a:xfrm>
            <a:off x="334962" y="364456"/>
            <a:ext cx="5761037" cy="4317693"/>
          </a:xfrm>
        </p:spPr>
      </p:pic>
      <p:pic>
        <p:nvPicPr>
          <p:cNvPr id="14" name="Bildplatzhalter 13"/>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t="-2144" b="-2144"/>
          <a:stretch/>
        </p:blipFill>
        <p:spPr/>
      </p:pic>
    </p:spTree>
    <p:extLst>
      <p:ext uri="{BB962C8B-B14F-4D97-AF65-F5344CB8AC3E}">
        <p14:creationId xmlns:p14="http://schemas.microsoft.com/office/powerpoint/2010/main" val="28882829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9F17C45-7E72-4ABE-9712-F581E4AA0865}" type="datetime1">
              <a:rPr lang="de-DE" smtClean="0"/>
              <a:t>17.09.2021</a:t>
            </a:fld>
            <a:endParaRPr lang="de-DE" dirty="0"/>
          </a:p>
        </p:txBody>
      </p:sp>
      <p:sp>
        <p:nvSpPr>
          <p:cNvPr id="3" name="Fußzeilenplatzhalter 2"/>
          <p:cNvSpPr>
            <a:spLocks noGrp="1"/>
          </p:cNvSpPr>
          <p:nvPr>
            <p:ph type="ftr" sz="quarter" idx="11"/>
          </p:nvPr>
        </p:nvSpPr>
        <p:spPr/>
        <p:txBody>
          <a:bodyPr/>
          <a:lstStyle/>
          <a:p>
            <a:r>
              <a:rPr lang="de-DE" smtClean="0"/>
              <a:t>Datenbankverbindung mit IntelliJ und MySQL</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17</a:t>
            </a:fld>
            <a:endParaRPr lang="de-DE" dirty="0"/>
          </a:p>
        </p:txBody>
      </p:sp>
      <p:sp>
        <p:nvSpPr>
          <p:cNvPr id="7" name="Textplatzhalter 6"/>
          <p:cNvSpPr>
            <a:spLocks noGrp="1"/>
          </p:cNvSpPr>
          <p:nvPr>
            <p:ph type="body" sz="quarter" idx="15"/>
          </p:nvPr>
        </p:nvSpPr>
        <p:spPr>
          <a:xfrm>
            <a:off x="334963" y="4867275"/>
            <a:ext cx="11522074" cy="843382"/>
          </a:xfrm>
        </p:spPr>
        <p:txBody>
          <a:bodyPr>
            <a:normAutofit/>
          </a:bodyPr>
          <a:lstStyle/>
          <a:p>
            <a:pPr algn="ctr"/>
            <a:r>
              <a:rPr lang="de-DE" sz="1700" dirty="0" smtClean="0"/>
              <a:t>Erzeugen Sie nun einen Eintrag in der Tabelle</a:t>
            </a:r>
            <a:endParaRPr lang="de-DE" sz="1700" dirty="0"/>
          </a:p>
        </p:txBody>
      </p:sp>
      <p:sp>
        <p:nvSpPr>
          <p:cNvPr id="9" name="Rechteck 8"/>
          <p:cNvSpPr/>
          <p:nvPr/>
        </p:nvSpPr>
        <p:spPr>
          <a:xfrm>
            <a:off x="334963" y="179790"/>
            <a:ext cx="3837525" cy="369332"/>
          </a:xfrm>
          <a:prstGeom prst="rect">
            <a:avLst/>
          </a:prstGeom>
        </p:spPr>
        <p:txBody>
          <a:bodyPr wrap="none">
            <a:spAutoFit/>
          </a:bodyPr>
          <a:lstStyle/>
          <a:p>
            <a:r>
              <a:rPr lang="de-DE" b="1" i="1" u="sng" dirty="0" smtClean="0"/>
              <a:t>Datenbank in PHP </a:t>
            </a:r>
            <a:r>
              <a:rPr lang="de-DE" b="1" i="1" u="sng" dirty="0" err="1" smtClean="0"/>
              <a:t>My</a:t>
            </a:r>
            <a:r>
              <a:rPr lang="de-DE" b="1" i="1" u="sng" dirty="0" smtClean="0"/>
              <a:t> Admin erstellen</a:t>
            </a:r>
            <a:endParaRPr lang="de-DE" b="1" i="1" u="sng" dirty="0"/>
          </a:p>
        </p:txBody>
      </p:sp>
      <p:pic>
        <p:nvPicPr>
          <p:cNvPr id="10" name="Bildplatzhalter 9"/>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0698" r="20698"/>
          <a:stretch>
            <a:fillRect/>
          </a:stretch>
        </p:blipFill>
        <p:spPr>
          <a:xfrm>
            <a:off x="306388" y="549275"/>
            <a:ext cx="5761037" cy="4318000"/>
          </a:xfrm>
        </p:spPr>
      </p:pic>
      <p:pic>
        <p:nvPicPr>
          <p:cNvPr id="11" name="Bildplatzhalter 10"/>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4016" r="14016"/>
          <a:stretch>
            <a:fillRect/>
          </a:stretch>
        </p:blipFill>
        <p:spPr/>
      </p:pic>
    </p:spTree>
    <p:extLst>
      <p:ext uri="{BB962C8B-B14F-4D97-AF65-F5344CB8AC3E}">
        <p14:creationId xmlns:p14="http://schemas.microsoft.com/office/powerpoint/2010/main" val="28419614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A02CC845-598C-41ED-8A9E-5FAAE61CAAE7}" type="datetime1">
              <a:rPr lang="de-DE" smtClean="0"/>
              <a:t>17.09.2021</a:t>
            </a:fld>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18</a:t>
            </a:fld>
            <a:endParaRPr lang="de-DE" dirty="0"/>
          </a:p>
        </p:txBody>
      </p:sp>
      <p:sp>
        <p:nvSpPr>
          <p:cNvPr id="11" name="Textplatzhalter 10"/>
          <p:cNvSpPr>
            <a:spLocks noGrp="1"/>
          </p:cNvSpPr>
          <p:nvPr>
            <p:ph type="body" sz="quarter" idx="13"/>
          </p:nvPr>
        </p:nvSpPr>
        <p:spPr>
          <a:xfrm>
            <a:off x="5389391" y="2001809"/>
            <a:ext cx="5964407" cy="707704"/>
          </a:xfrm>
        </p:spPr>
        <p:txBody>
          <a:bodyPr>
            <a:normAutofit fontScale="85000" lnSpcReduction="10000"/>
          </a:bodyPr>
          <a:lstStyle/>
          <a:p>
            <a:r>
              <a:rPr lang="de-DE" dirty="0" smtClean="0">
                <a:effectLst>
                  <a:outerShdw blurRad="38100" dist="38100" dir="2700000" algn="tl">
                    <a:srgbClr val="000000">
                      <a:alpha val="43137"/>
                    </a:srgbClr>
                  </a:outerShdw>
                </a:effectLst>
              </a:rPr>
              <a:t>PHP </a:t>
            </a:r>
            <a:r>
              <a:rPr lang="de-DE" dirty="0" err="1" smtClean="0">
                <a:effectLst>
                  <a:outerShdw blurRad="38100" dist="38100" dir="2700000" algn="tl">
                    <a:srgbClr val="000000">
                      <a:alpha val="43137"/>
                    </a:srgbClr>
                  </a:outerShdw>
                </a:effectLst>
              </a:rPr>
              <a:t>My</a:t>
            </a:r>
            <a:r>
              <a:rPr lang="de-DE" dirty="0" smtClean="0">
                <a:effectLst>
                  <a:outerShdw blurRad="38100" dist="38100" dir="2700000" algn="tl">
                    <a:srgbClr val="000000">
                      <a:alpha val="43137"/>
                    </a:srgbClr>
                  </a:outerShdw>
                </a:effectLst>
              </a:rPr>
              <a:t> Admin und </a:t>
            </a:r>
            <a:r>
              <a:rPr lang="de-DE" dirty="0" err="1" smtClean="0">
                <a:effectLst>
                  <a:outerShdw blurRad="38100" dist="38100" dir="2700000" algn="tl">
                    <a:srgbClr val="000000">
                      <a:alpha val="43137"/>
                    </a:srgbClr>
                  </a:outerShdw>
                </a:effectLst>
              </a:rPr>
              <a:t>IntelliJ</a:t>
            </a:r>
            <a:endParaRPr lang="de-DE" dirty="0">
              <a:effectLst>
                <a:outerShdw blurRad="38100" dist="38100" dir="2700000" algn="tl">
                  <a:srgbClr val="000000">
                    <a:alpha val="43137"/>
                  </a:srgbClr>
                </a:outerShdw>
              </a:effectLst>
            </a:endParaRPr>
          </a:p>
        </p:txBody>
      </p:sp>
      <p:sp>
        <p:nvSpPr>
          <p:cNvPr id="12" name="Textplatzhalter 11"/>
          <p:cNvSpPr>
            <a:spLocks noGrp="1"/>
          </p:cNvSpPr>
          <p:nvPr>
            <p:ph type="body" sz="quarter" idx="14"/>
          </p:nvPr>
        </p:nvSpPr>
        <p:spPr/>
        <p:txBody>
          <a:bodyPr>
            <a:normAutofit fontScale="92500" lnSpcReduction="10000"/>
          </a:bodyPr>
          <a:lstStyle/>
          <a:p>
            <a:r>
              <a:rPr lang="de-DE" b="1" dirty="0"/>
              <a:t>3.1 Datenbank in PHP </a:t>
            </a:r>
            <a:r>
              <a:rPr lang="de-DE" b="1" dirty="0" err="1"/>
              <a:t>My</a:t>
            </a:r>
            <a:r>
              <a:rPr lang="de-DE" b="1" dirty="0"/>
              <a:t> Admin </a:t>
            </a:r>
            <a:r>
              <a:rPr lang="de-DE" b="1" dirty="0" smtClean="0"/>
              <a:t>erstellen</a:t>
            </a:r>
            <a:endParaRPr lang="de-DE" b="1" dirty="0"/>
          </a:p>
          <a:p>
            <a:r>
              <a:rPr lang="de-DE" b="1" dirty="0"/>
              <a:t>3.2 </a:t>
            </a:r>
            <a:r>
              <a:rPr lang="de-DE" b="1" u="sng" dirty="0"/>
              <a:t>Datenbankabfrage </a:t>
            </a:r>
            <a:r>
              <a:rPr lang="de-DE" b="1" u="sng" dirty="0" smtClean="0"/>
              <a:t>in Java </a:t>
            </a:r>
            <a:r>
              <a:rPr lang="de-DE" b="1" dirty="0">
                <a:sym typeface="Wingdings" panose="05000000000000000000" pitchFamily="2" charset="2"/>
              </a:rPr>
              <a:t></a:t>
            </a:r>
            <a:endParaRPr lang="de-DE" b="1" dirty="0"/>
          </a:p>
        </p:txBody>
      </p:sp>
      <p:sp>
        <p:nvSpPr>
          <p:cNvPr id="13" name="Textplatzhalter 12"/>
          <p:cNvSpPr>
            <a:spLocks noGrp="1"/>
          </p:cNvSpPr>
          <p:nvPr>
            <p:ph type="body" sz="quarter" idx="15"/>
          </p:nvPr>
        </p:nvSpPr>
        <p:spPr/>
        <p:txBody>
          <a:bodyPr/>
          <a:lstStyle/>
          <a:p>
            <a:r>
              <a:rPr lang="de-DE" dirty="0" smtClean="0">
                <a:effectLst>
                  <a:outerShdw blurRad="38100" dist="38100" dir="2700000" algn="tl">
                    <a:srgbClr val="000000">
                      <a:alpha val="43137"/>
                    </a:srgbClr>
                  </a:outerShdw>
                </a:effectLst>
              </a:rPr>
              <a:t>03</a:t>
            </a:r>
            <a:endParaRPr lang="de-DE" dirty="0">
              <a:effectLst>
                <a:outerShdw blurRad="38100" dist="38100" dir="2700000" algn="tl">
                  <a:srgbClr val="000000">
                    <a:alpha val="43137"/>
                  </a:srgbClr>
                </a:outerShdw>
              </a:effectLst>
            </a:endParaRPr>
          </a:p>
        </p:txBody>
      </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0" y="2870922"/>
            <a:ext cx="3645755" cy="3645765"/>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dirty="0"/>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dirty="0"/>
            </a:p>
          </p:txBody>
        </p:sp>
      </p:grpSp>
      <p:sp>
        <p:nvSpPr>
          <p:cNvPr id="19" name="Freihandform: Form 150">
            <a:extLst>
              <a:ext uri="{FF2B5EF4-FFF2-40B4-BE49-F238E27FC236}">
                <a16:creationId xmlns:a16="http://schemas.microsoft.com/office/drawing/2014/main" id="{02B5AEEF-A0ED-47CB-9242-475497AD7AFD}"/>
              </a:ext>
            </a:extLst>
          </p:cNvPr>
          <p:cNvSpPr/>
          <p:nvPr/>
        </p:nvSpPr>
        <p:spPr>
          <a:xfrm>
            <a:off x="10424796" y="3845018"/>
            <a:ext cx="690708" cy="1022493"/>
          </a:xfrm>
          <a:custGeom>
            <a:avLst/>
            <a:gdLst>
              <a:gd name="connsiteX0" fmla="*/ 93845 w 373988"/>
              <a:gd name="connsiteY0" fmla="*/ 33263 h 553635"/>
              <a:gd name="connsiteX1" fmla="*/ 93845 w 373988"/>
              <a:gd name="connsiteY1" fmla="*/ 356278 h 553635"/>
              <a:gd name="connsiteX2" fmla="*/ 93845 w 373988"/>
              <a:gd name="connsiteY2" fmla="*/ 356278 h 553635"/>
              <a:gd name="connsiteX3" fmla="*/ 65756 w 373988"/>
              <a:gd name="connsiteY3" fmla="*/ 232838 h 553635"/>
              <a:gd name="connsiteX4" fmla="*/ 25841 w 373988"/>
              <a:gd name="connsiteY4" fmla="*/ 207706 h 553635"/>
              <a:gd name="connsiteX5" fmla="*/ 710 w 373988"/>
              <a:gd name="connsiteY5" fmla="*/ 246882 h 553635"/>
              <a:gd name="connsiteX6" fmla="*/ 40625 w 373988"/>
              <a:gd name="connsiteY6" fmla="*/ 427238 h 553635"/>
              <a:gd name="connsiteX7" fmla="*/ 53191 w 373988"/>
              <a:gd name="connsiteY7" fmla="*/ 446457 h 553635"/>
              <a:gd name="connsiteX8" fmla="*/ 127107 w 373988"/>
              <a:gd name="connsiteY8" fmla="*/ 503373 h 553635"/>
              <a:gd name="connsiteX9" fmla="*/ 127107 w 373988"/>
              <a:gd name="connsiteY9" fmla="*/ 553636 h 553635"/>
              <a:gd name="connsiteX10" fmla="*/ 320769 w 373988"/>
              <a:gd name="connsiteY10" fmla="*/ 553636 h 553635"/>
              <a:gd name="connsiteX11" fmla="*/ 320769 w 373988"/>
              <a:gd name="connsiteY11" fmla="*/ 521113 h 553635"/>
              <a:gd name="connsiteX12" fmla="*/ 373989 w 373988"/>
              <a:gd name="connsiteY12" fmla="*/ 380671 h 553635"/>
              <a:gd name="connsiteX13" fmla="*/ 373989 w 373988"/>
              <a:gd name="connsiteY13" fmla="*/ 260187 h 553635"/>
              <a:gd name="connsiteX14" fmla="*/ 334074 w 373988"/>
              <a:gd name="connsiteY14" fmla="*/ 220272 h 553635"/>
              <a:gd name="connsiteX15" fmla="*/ 306725 w 373988"/>
              <a:gd name="connsiteY15" fmla="*/ 230620 h 553635"/>
              <a:gd name="connsiteX16" fmla="*/ 306725 w 373988"/>
              <a:gd name="connsiteY16" fmla="*/ 226924 h 553635"/>
              <a:gd name="connsiteX17" fmla="*/ 266810 w 373988"/>
              <a:gd name="connsiteY17" fmla="*/ 187009 h 553635"/>
              <a:gd name="connsiteX18" fmla="*/ 238721 w 373988"/>
              <a:gd name="connsiteY18" fmla="*/ 198097 h 553635"/>
              <a:gd name="connsiteX19" fmla="*/ 190676 w 373988"/>
              <a:gd name="connsiteY19" fmla="*/ 167791 h 553635"/>
              <a:gd name="connsiteX20" fmla="*/ 159631 w 373988"/>
              <a:gd name="connsiteY20" fmla="*/ 206228 h 553635"/>
              <a:gd name="connsiteX21" fmla="*/ 158891 w 373988"/>
              <a:gd name="connsiteY21" fmla="*/ 206228 h 553635"/>
              <a:gd name="connsiteX22" fmla="*/ 158891 w 373988"/>
              <a:gd name="connsiteY22" fmla="*/ 33263 h 553635"/>
              <a:gd name="connsiteX23" fmla="*/ 125629 w 373988"/>
              <a:gd name="connsiteY23" fmla="*/ 0 h 553635"/>
              <a:gd name="connsiteX24" fmla="*/ 93845 w 373988"/>
              <a:gd name="connsiteY24" fmla="*/ 33263 h 55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73988" h="553635">
                <a:moveTo>
                  <a:pt x="93845" y="33263"/>
                </a:moveTo>
                <a:lnTo>
                  <a:pt x="93845" y="356278"/>
                </a:lnTo>
                <a:lnTo>
                  <a:pt x="93845" y="356278"/>
                </a:lnTo>
                <a:lnTo>
                  <a:pt x="65756" y="232838"/>
                </a:lnTo>
                <a:cubicBezTo>
                  <a:pt x="61321" y="215097"/>
                  <a:pt x="43581" y="204010"/>
                  <a:pt x="25841" y="207706"/>
                </a:cubicBezTo>
                <a:cubicBezTo>
                  <a:pt x="8101" y="212141"/>
                  <a:pt x="-2986" y="229142"/>
                  <a:pt x="710" y="246882"/>
                </a:cubicBezTo>
                <a:lnTo>
                  <a:pt x="40625" y="427238"/>
                </a:lnTo>
                <a:cubicBezTo>
                  <a:pt x="42103" y="434630"/>
                  <a:pt x="46538" y="442022"/>
                  <a:pt x="53191" y="446457"/>
                </a:cubicBezTo>
                <a:lnTo>
                  <a:pt x="127107" y="503373"/>
                </a:lnTo>
                <a:lnTo>
                  <a:pt x="127107" y="553636"/>
                </a:lnTo>
                <a:lnTo>
                  <a:pt x="320769" y="553636"/>
                </a:lnTo>
                <a:lnTo>
                  <a:pt x="320769" y="521113"/>
                </a:lnTo>
                <a:cubicBezTo>
                  <a:pt x="320769" y="473806"/>
                  <a:pt x="373989" y="470110"/>
                  <a:pt x="373989" y="380671"/>
                </a:cubicBezTo>
                <a:lnTo>
                  <a:pt x="373989" y="260187"/>
                </a:lnTo>
                <a:cubicBezTo>
                  <a:pt x="373989" y="238012"/>
                  <a:pt x="356249" y="220272"/>
                  <a:pt x="334074" y="220272"/>
                </a:cubicBezTo>
                <a:cubicBezTo>
                  <a:pt x="323726" y="220272"/>
                  <a:pt x="314116" y="223968"/>
                  <a:pt x="306725" y="230620"/>
                </a:cubicBezTo>
                <a:cubicBezTo>
                  <a:pt x="306725" y="229142"/>
                  <a:pt x="306725" y="228403"/>
                  <a:pt x="306725" y="226924"/>
                </a:cubicBezTo>
                <a:cubicBezTo>
                  <a:pt x="306725" y="204749"/>
                  <a:pt x="288985" y="187009"/>
                  <a:pt x="266810" y="187009"/>
                </a:cubicBezTo>
                <a:cubicBezTo>
                  <a:pt x="256461" y="187009"/>
                  <a:pt x="246113" y="190705"/>
                  <a:pt x="238721" y="198097"/>
                </a:cubicBezTo>
                <a:cubicBezTo>
                  <a:pt x="233547" y="176661"/>
                  <a:pt x="212111" y="162617"/>
                  <a:pt x="190676" y="167791"/>
                </a:cubicBezTo>
                <a:cubicBezTo>
                  <a:pt x="172196" y="172226"/>
                  <a:pt x="159631" y="187748"/>
                  <a:pt x="159631" y="206228"/>
                </a:cubicBezTo>
                <a:lnTo>
                  <a:pt x="158891" y="206228"/>
                </a:lnTo>
                <a:lnTo>
                  <a:pt x="158891" y="33263"/>
                </a:lnTo>
                <a:cubicBezTo>
                  <a:pt x="158891" y="14783"/>
                  <a:pt x="144108" y="0"/>
                  <a:pt x="125629" y="0"/>
                </a:cubicBezTo>
                <a:cubicBezTo>
                  <a:pt x="108628" y="0"/>
                  <a:pt x="93845" y="14783"/>
                  <a:pt x="93845" y="33263"/>
                </a:cubicBezTo>
                <a:close/>
              </a:path>
            </a:pathLst>
          </a:custGeom>
          <a:solidFill>
            <a:srgbClr val="0071B2"/>
          </a:solidFill>
          <a:ln w="7342" cap="flat">
            <a:noFill/>
            <a:prstDash val="solid"/>
            <a:miter/>
          </a:ln>
        </p:spPr>
        <p:txBody>
          <a:bodyPr rtlCol="0" anchor="ctr"/>
          <a:lstStyle/>
          <a:p>
            <a:endParaRPr lang="de-DE" dirty="0"/>
          </a:p>
        </p:txBody>
      </p:sp>
      <p:sp>
        <p:nvSpPr>
          <p:cNvPr id="20" name="Textplatzhalter 11"/>
          <p:cNvSpPr txBox="1">
            <a:spLocks/>
          </p:cNvSpPr>
          <p:nvPr/>
        </p:nvSpPr>
        <p:spPr>
          <a:xfrm>
            <a:off x="5389391" y="3725394"/>
            <a:ext cx="4874282" cy="19942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i="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smtClean="0"/>
              <a:t>Zuerst erstellen wir eine Testdatenbank mit einer Tabelle und Beispieldaten in PHP </a:t>
            </a:r>
            <a:r>
              <a:rPr lang="de-DE" dirty="0" err="1" smtClean="0"/>
              <a:t>My</a:t>
            </a:r>
            <a:r>
              <a:rPr lang="de-DE" dirty="0" smtClean="0"/>
              <a:t> Admin und fragen diese Tabelle anschließend in Java ab.</a:t>
            </a:r>
            <a:endParaRPr lang="de-DE" dirty="0"/>
          </a:p>
        </p:txBody>
      </p:sp>
      <p:sp>
        <p:nvSpPr>
          <p:cNvPr id="2" name="Fußzeilenplatzhalter 1"/>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30842570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EDF04E8C-22E7-4F91-9CB6-CA541CE29C6A}"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19</a:t>
            </a:fld>
            <a:endParaRPr lang="de-DE" dirty="0"/>
          </a:p>
        </p:txBody>
      </p:sp>
      <p:sp>
        <p:nvSpPr>
          <p:cNvPr id="9" name="Textplatzhalter 8"/>
          <p:cNvSpPr>
            <a:spLocks noGrp="1"/>
          </p:cNvSpPr>
          <p:nvPr>
            <p:ph type="body" sz="quarter" idx="15"/>
          </p:nvPr>
        </p:nvSpPr>
        <p:spPr>
          <a:xfrm>
            <a:off x="334963" y="4480314"/>
            <a:ext cx="5761037" cy="1341988"/>
          </a:xfrm>
        </p:spPr>
        <p:txBody>
          <a:bodyPr>
            <a:normAutofit fontScale="92500" lnSpcReduction="10000"/>
          </a:bodyPr>
          <a:lstStyle/>
          <a:p>
            <a:pPr lvl="0"/>
            <a:r>
              <a:rPr lang="de-DE" sz="1700" dirty="0" smtClean="0"/>
              <a:t>Öffnen Sie wieder </a:t>
            </a:r>
            <a:r>
              <a:rPr lang="de-DE" sz="1700" dirty="0" err="1" smtClean="0"/>
              <a:t>IntelliJ</a:t>
            </a:r>
            <a:r>
              <a:rPr lang="de-DE" sz="1700" dirty="0" smtClean="0"/>
              <a:t> mit dem Projekt, welches den Verweis auf den Connector besitzt.</a:t>
            </a:r>
          </a:p>
          <a:p>
            <a:pPr lvl="0"/>
            <a:r>
              <a:rPr lang="de-DE" sz="1700" dirty="0" smtClean="0"/>
              <a:t>Fügen Sie dem Projekt die Import-Anweisung </a:t>
            </a:r>
            <a:r>
              <a:rPr lang="de-DE" sz="1700" dirty="0" smtClean="0">
                <a:latin typeface="Consolas" panose="020B0609020204030204" pitchFamily="49" charset="0"/>
              </a:rPr>
              <a:t>java.sql.*</a:t>
            </a:r>
            <a:r>
              <a:rPr lang="de-DE" sz="1700" dirty="0" smtClean="0"/>
              <a:t> hinzu</a:t>
            </a:r>
          </a:p>
          <a:p>
            <a:pPr lvl="0"/>
            <a:r>
              <a:rPr lang="de-DE" sz="1700" dirty="0" smtClean="0"/>
              <a:t>Für dieses Beispiel werden im Detail .Connection, .</a:t>
            </a:r>
            <a:r>
              <a:rPr lang="de-DE" sz="1700" dirty="0" err="1" smtClean="0"/>
              <a:t>DriverManager</a:t>
            </a:r>
            <a:r>
              <a:rPr lang="de-DE" sz="1700" dirty="0" smtClean="0"/>
              <a:t>, .</a:t>
            </a:r>
            <a:r>
              <a:rPr lang="de-DE" sz="1700" dirty="0" err="1" smtClean="0"/>
              <a:t>SQLException</a:t>
            </a:r>
            <a:r>
              <a:rPr lang="de-DE" sz="1700" dirty="0" smtClean="0"/>
              <a:t>, .</a:t>
            </a:r>
            <a:r>
              <a:rPr lang="de-DE" sz="1700" dirty="0" err="1" smtClean="0"/>
              <a:t>ResultSet</a:t>
            </a:r>
            <a:r>
              <a:rPr lang="de-DE" sz="1700" dirty="0" smtClean="0"/>
              <a:t> und .Statement benötigt.</a:t>
            </a:r>
            <a:endParaRPr lang="de-DE" sz="1700" dirty="0"/>
          </a:p>
        </p:txBody>
      </p:sp>
      <p:sp>
        <p:nvSpPr>
          <p:cNvPr id="10" name="Textplatzhalter 9"/>
          <p:cNvSpPr>
            <a:spLocks noGrp="1"/>
          </p:cNvSpPr>
          <p:nvPr>
            <p:ph type="body" sz="quarter" idx="16"/>
          </p:nvPr>
        </p:nvSpPr>
        <p:spPr>
          <a:xfrm>
            <a:off x="6095999" y="4867275"/>
            <a:ext cx="5761037" cy="1057664"/>
          </a:xfrm>
        </p:spPr>
        <p:txBody>
          <a:bodyPr>
            <a:normAutofit/>
          </a:bodyPr>
          <a:lstStyle/>
          <a:p>
            <a:pPr lvl="0"/>
            <a:r>
              <a:rPr lang="de-DE" sz="1700" dirty="0" smtClean="0"/>
              <a:t>Durch eine Reihe von Anweisungen können wir nun einen Select Befehl auf der Datenbank ausführen und uns die Ergebnisse anzeigen lassen. Die Befehle sind auf der folgenden Folie genauer erläutert.</a:t>
            </a:r>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
        <p:nvSpPr>
          <p:cNvPr id="13" name="Rechteck 12"/>
          <p:cNvSpPr/>
          <p:nvPr/>
        </p:nvSpPr>
        <p:spPr>
          <a:xfrm>
            <a:off x="334963" y="179790"/>
            <a:ext cx="2705869" cy="369332"/>
          </a:xfrm>
          <a:prstGeom prst="rect">
            <a:avLst/>
          </a:prstGeom>
        </p:spPr>
        <p:txBody>
          <a:bodyPr wrap="none">
            <a:spAutoFit/>
          </a:bodyPr>
          <a:lstStyle/>
          <a:p>
            <a:r>
              <a:rPr lang="de-DE" b="1" i="1" u="sng" dirty="0"/>
              <a:t>Datenbankabfrage in Java</a:t>
            </a:r>
          </a:p>
        </p:txBody>
      </p:sp>
      <p:pic>
        <p:nvPicPr>
          <p:cNvPr id="11" name="Bildplatzhalter 10"/>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30343" b="-30343"/>
          <a:stretch/>
        </p:blipFill>
        <p:spPr/>
      </p:pic>
      <p:pic>
        <p:nvPicPr>
          <p:cNvPr id="12" name="Bildplatzhalter 11"/>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l="-493" r="-493"/>
          <a:stretch/>
        </p:blipFill>
        <p:spPr/>
      </p:pic>
    </p:spTree>
    <p:extLst>
      <p:ext uri="{BB962C8B-B14F-4D97-AF65-F5344CB8AC3E}">
        <p14:creationId xmlns:p14="http://schemas.microsoft.com/office/powerpoint/2010/main" val="26348400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7669C2CB-DE87-43FD-A1A8-13D962ABF6BC}" type="datetime1">
              <a:rPr lang="de-DE" smtClean="0"/>
              <a:t>17.09.2021</a:t>
            </a:fld>
            <a:endParaRPr lang="de-DE" dirty="0"/>
          </a:p>
        </p:txBody>
      </p:sp>
      <p:sp>
        <p:nvSpPr>
          <p:cNvPr id="4" name="Fußzeilenplatzhalter 3"/>
          <p:cNvSpPr>
            <a:spLocks noGrp="1"/>
          </p:cNvSpPr>
          <p:nvPr>
            <p:ph type="ftr" sz="quarter" idx="11"/>
          </p:nvPr>
        </p:nvSpPr>
        <p:spPr/>
        <p:txBody>
          <a:bodyPr/>
          <a:lstStyle/>
          <a:p>
            <a:r>
              <a:rPr lang="de-DE" smtClean="0"/>
              <a:t>Datenbankverbindung mit IntelliJ und MySQL</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20</a:t>
            </a:fld>
            <a:endParaRPr lang="de-DE" dirty="0"/>
          </a:p>
        </p:txBody>
      </p:sp>
      <p:sp>
        <p:nvSpPr>
          <p:cNvPr id="6" name="Textplatzhalter 5"/>
          <p:cNvSpPr>
            <a:spLocks noGrp="1"/>
          </p:cNvSpPr>
          <p:nvPr>
            <p:ph type="body" sz="quarter" idx="13"/>
          </p:nvPr>
        </p:nvSpPr>
        <p:spPr>
          <a:xfrm>
            <a:off x="361949" y="374282"/>
            <a:ext cx="11495754" cy="714373"/>
          </a:xfrm>
        </p:spPr>
        <p:txBody>
          <a:bodyPr/>
          <a:lstStyle/>
          <a:p>
            <a:r>
              <a:rPr lang="de-DE" dirty="0" smtClean="0"/>
              <a:t>Beispiel: Datenbankabfrage mit Java</a:t>
            </a:r>
            <a:endParaRPr lang="de-DE" dirty="0"/>
          </a:p>
        </p:txBody>
      </p:sp>
      <p:sp>
        <p:nvSpPr>
          <p:cNvPr id="7" name="Textplatzhalter 6"/>
          <p:cNvSpPr>
            <a:spLocks noGrp="1"/>
          </p:cNvSpPr>
          <p:nvPr>
            <p:ph type="body" sz="quarter" idx="14"/>
          </p:nvPr>
        </p:nvSpPr>
        <p:spPr>
          <a:xfrm>
            <a:off x="361949" y="1088655"/>
            <a:ext cx="11495753" cy="4499345"/>
          </a:xfrm>
        </p:spPr>
        <p:txBody>
          <a:bodyPr>
            <a:normAutofit fontScale="92500" lnSpcReduction="20000"/>
          </a:bodyPr>
          <a:lstStyle/>
          <a:p>
            <a:r>
              <a:rPr lang="de-DE" dirty="0" smtClean="0">
                <a:latin typeface="Consolas" panose="020B0609020204030204" pitchFamily="49" charset="0"/>
              </a:rPr>
              <a:t>String </a:t>
            </a:r>
            <a:r>
              <a:rPr lang="de-DE" dirty="0" err="1" smtClean="0">
                <a:latin typeface="Consolas" panose="020B0609020204030204" pitchFamily="49" charset="0"/>
              </a:rPr>
              <a:t>connectionString</a:t>
            </a:r>
            <a:r>
              <a:rPr lang="de-DE" dirty="0" smtClean="0">
                <a:latin typeface="Consolas" panose="020B0609020204030204" pitchFamily="49" charset="0"/>
              </a:rPr>
              <a:t> </a:t>
            </a:r>
            <a:r>
              <a:rPr lang="de-DE" dirty="0" smtClean="0"/>
              <a:t>beinhaltet eine Zeichenfolge, mit der die Verbindung zur Datenbank aufgebaut werden kann. Verschiedene Datenbanken erfordern unterschiedliche Connection Strings</a:t>
            </a:r>
          </a:p>
          <a:p>
            <a:r>
              <a:rPr lang="de-DE" dirty="0" err="1" smtClean="0">
                <a:latin typeface="Consolas" panose="020B0609020204030204" pitchFamily="49" charset="0"/>
              </a:rPr>
              <a:t>DriverManager.getConnection</a:t>
            </a:r>
            <a:r>
              <a:rPr lang="de-DE" dirty="0" smtClean="0">
                <a:latin typeface="Consolas" panose="020B0609020204030204" pitchFamily="49" charset="0"/>
              </a:rPr>
              <a:t>(…)</a:t>
            </a:r>
            <a:r>
              <a:rPr lang="de-DE" dirty="0" smtClean="0"/>
              <a:t> versucht nun, anhand des Connection Strings eine Verbindung zur Datenbank aufzubauen und gibt die Verbindung als Objekt zurück.</a:t>
            </a:r>
          </a:p>
          <a:p>
            <a:r>
              <a:rPr lang="de-DE" dirty="0" err="1" smtClean="0">
                <a:latin typeface="Consolas" panose="020B0609020204030204" pitchFamily="49" charset="0"/>
              </a:rPr>
              <a:t>connection.createStatement</a:t>
            </a:r>
            <a:r>
              <a:rPr lang="de-DE" dirty="0" smtClean="0">
                <a:latin typeface="Consolas" panose="020B0609020204030204" pitchFamily="49" charset="0"/>
              </a:rPr>
              <a:t>()</a:t>
            </a:r>
            <a:r>
              <a:rPr lang="de-DE" dirty="0" smtClean="0"/>
              <a:t> erzeugt passend zu der Connection ein Statement-Objekt, über welches anschließend SQL Befehle an die Datenbank gesendet werden können.</a:t>
            </a:r>
          </a:p>
          <a:p>
            <a:r>
              <a:rPr lang="de-DE" dirty="0" err="1" smtClean="0">
                <a:latin typeface="Consolas" panose="020B0609020204030204" pitchFamily="49" charset="0"/>
              </a:rPr>
              <a:t>statement.executeQuery</a:t>
            </a:r>
            <a:r>
              <a:rPr lang="de-DE" dirty="0" smtClean="0">
                <a:latin typeface="Consolas" panose="020B0609020204030204" pitchFamily="49" charset="0"/>
              </a:rPr>
              <a:t>(…)</a:t>
            </a:r>
            <a:r>
              <a:rPr lang="de-DE" dirty="0" smtClean="0"/>
              <a:t> führt die angegebene Query auf der Datenbank aus und gibt das Ergebnis der Abfrage als </a:t>
            </a:r>
            <a:r>
              <a:rPr lang="de-DE" dirty="0" err="1" smtClean="0"/>
              <a:t>ResultSet</a:t>
            </a:r>
            <a:r>
              <a:rPr lang="de-DE" dirty="0" smtClean="0"/>
              <a:t> zurück.</a:t>
            </a:r>
          </a:p>
          <a:p>
            <a:r>
              <a:rPr lang="de-DE" dirty="0" smtClean="0"/>
              <a:t>mit </a:t>
            </a:r>
            <a:r>
              <a:rPr lang="de-DE" dirty="0" err="1" smtClean="0">
                <a:latin typeface="Consolas" panose="020B0609020204030204" pitchFamily="49" charset="0"/>
              </a:rPr>
              <a:t>rs.next</a:t>
            </a:r>
            <a:r>
              <a:rPr lang="de-DE" dirty="0" smtClean="0">
                <a:latin typeface="Consolas" panose="020B0609020204030204" pitchFamily="49" charset="0"/>
              </a:rPr>
              <a:t>()</a:t>
            </a:r>
            <a:r>
              <a:rPr lang="de-DE" dirty="0" smtClean="0">
                <a:latin typeface="+mj-lt"/>
              </a:rPr>
              <a:t> </a:t>
            </a:r>
            <a:r>
              <a:rPr lang="de-DE" dirty="0" smtClean="0"/>
              <a:t>in einer Schleife kann Zeile für Zeile das Ergebnis durchlaufen werden.</a:t>
            </a:r>
          </a:p>
          <a:p>
            <a:r>
              <a:rPr lang="de-DE" dirty="0" smtClean="0"/>
              <a:t>Die Getter-Methoden des </a:t>
            </a:r>
            <a:r>
              <a:rPr lang="de-DE" dirty="0" err="1" smtClean="0"/>
              <a:t>ResultSets</a:t>
            </a:r>
            <a:r>
              <a:rPr lang="de-DE" dirty="0" smtClean="0"/>
              <a:t> geben Zugriff auf die einzelnen Spalten über Index oder Spaltenname.</a:t>
            </a:r>
          </a:p>
          <a:p>
            <a:r>
              <a:rPr lang="de-DE" dirty="0" smtClean="0"/>
              <a:t>Zum Schluss wird die Connection wieder geschlossen.</a:t>
            </a:r>
          </a:p>
          <a:p>
            <a:r>
              <a:rPr lang="de-DE" dirty="0" smtClean="0"/>
              <a:t>Sollte es dabei zu einer </a:t>
            </a:r>
            <a:r>
              <a:rPr lang="de-DE" dirty="0" err="1" smtClean="0"/>
              <a:t>Exception</a:t>
            </a:r>
            <a:r>
              <a:rPr lang="de-DE" dirty="0" smtClean="0"/>
              <a:t> kommen, wird diese vom Try-Catch aufgefangen.</a:t>
            </a:r>
          </a:p>
        </p:txBody>
      </p:sp>
    </p:spTree>
    <p:extLst>
      <p:ext uri="{BB962C8B-B14F-4D97-AF65-F5344CB8AC3E}">
        <p14:creationId xmlns:p14="http://schemas.microsoft.com/office/powerpoint/2010/main" val="25749392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F8CC84E-C283-4BF4-8362-D98784F4A3FE}"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21</a:t>
            </a:fld>
            <a:endParaRPr lang="de-DE" dirty="0"/>
          </a:p>
        </p:txBody>
      </p:sp>
      <p:sp>
        <p:nvSpPr>
          <p:cNvPr id="9" name="Textplatzhalter 8"/>
          <p:cNvSpPr>
            <a:spLocks noGrp="1"/>
          </p:cNvSpPr>
          <p:nvPr>
            <p:ph type="body" sz="quarter" idx="15"/>
          </p:nvPr>
        </p:nvSpPr>
        <p:spPr>
          <a:xfrm>
            <a:off x="334963" y="4867274"/>
            <a:ext cx="11090764" cy="955027"/>
          </a:xfrm>
        </p:spPr>
        <p:txBody>
          <a:bodyPr>
            <a:normAutofit/>
          </a:bodyPr>
          <a:lstStyle/>
          <a:p>
            <a:pPr lvl="0"/>
            <a:r>
              <a:rPr lang="de-DE" sz="1700" dirty="0" smtClean="0"/>
              <a:t>Wenn alles geklappt hat, sollten in der Ausgabe nun die Daten der abgefragten Tabelle erscheinen.</a:t>
            </a:r>
            <a:endParaRPr lang="de-DE" sz="1700" dirty="0"/>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
        <p:nvSpPr>
          <p:cNvPr id="13" name="Rechteck 12"/>
          <p:cNvSpPr/>
          <p:nvPr/>
        </p:nvSpPr>
        <p:spPr>
          <a:xfrm>
            <a:off x="334963" y="179790"/>
            <a:ext cx="2705869" cy="369332"/>
          </a:xfrm>
          <a:prstGeom prst="rect">
            <a:avLst/>
          </a:prstGeom>
        </p:spPr>
        <p:txBody>
          <a:bodyPr wrap="none">
            <a:spAutoFit/>
          </a:bodyPr>
          <a:lstStyle/>
          <a:p>
            <a:r>
              <a:rPr lang="de-DE" b="1" i="1" u="sng" dirty="0"/>
              <a:t>Datenbankabfrage in Java</a:t>
            </a:r>
          </a:p>
        </p:txBody>
      </p:sp>
      <p:pic>
        <p:nvPicPr>
          <p:cNvPr id="7" name="Bildplatzhalter 6"/>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19" r="619"/>
          <a:stretch>
            <a:fillRect/>
          </a:stretch>
        </p:blipFill>
        <p:spPr>
          <a:xfrm>
            <a:off x="334963" y="549275"/>
            <a:ext cx="11018837" cy="4318000"/>
          </a:xfrm>
        </p:spPr>
      </p:pic>
    </p:spTree>
    <p:extLst>
      <p:ext uri="{BB962C8B-B14F-4D97-AF65-F5344CB8AC3E}">
        <p14:creationId xmlns:p14="http://schemas.microsoft.com/office/powerpoint/2010/main" val="22646985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pieren 8"/>
          <p:cNvGrpSpPr/>
          <p:nvPr/>
        </p:nvGrpSpPr>
        <p:grpSpPr>
          <a:xfrm>
            <a:off x="0" y="1966520"/>
            <a:ext cx="12192000" cy="4968482"/>
            <a:chOff x="0" y="2716065"/>
            <a:chExt cx="12192000" cy="4968482"/>
          </a:xfrm>
        </p:grpSpPr>
        <p:sp>
          <p:nvSpPr>
            <p:cNvPr id="10" name="Freihandform 9"/>
            <p:cNvSpPr/>
            <p:nvPr/>
          </p:nvSpPr>
          <p:spPr>
            <a:xfrm>
              <a:off x="0" y="2760671"/>
              <a:ext cx="12192000" cy="4923876"/>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 name="connsiteX0" fmla="*/ 0 w 12201054"/>
                <a:gd name="connsiteY0" fmla="*/ 0 h 4864883"/>
                <a:gd name="connsiteX1" fmla="*/ 3454269 w 12201054"/>
                <a:gd name="connsiteY1" fmla="*/ 0 h 4864883"/>
                <a:gd name="connsiteX2" fmla="*/ 3825090 w 12201054"/>
                <a:gd name="connsiteY2" fmla="*/ 351771 h 4864883"/>
                <a:gd name="connsiteX3" fmla="*/ 4195910 w 12201054"/>
                <a:gd name="connsiteY3" fmla="*/ 0 h 4864883"/>
                <a:gd name="connsiteX4" fmla="*/ 12192000 w 12201054"/>
                <a:gd name="connsiteY4" fmla="*/ 0 h 4864883"/>
                <a:gd name="connsiteX5" fmla="*/ 12201054 w 12201054"/>
                <a:gd name="connsiteY5" fmla="*/ 4097966 h 4864883"/>
                <a:gd name="connsiteX6" fmla="*/ 0 w 12201054"/>
                <a:gd name="connsiteY6" fmla="*/ 4864883 h 4864883"/>
                <a:gd name="connsiteX7" fmla="*/ 0 w 12201054"/>
                <a:gd name="connsiteY7" fmla="*/ 0 h 4864883"/>
                <a:gd name="connsiteX0" fmla="*/ 0 w 12192000"/>
                <a:gd name="connsiteY0" fmla="*/ 0 h 4923876"/>
                <a:gd name="connsiteX1" fmla="*/ 3454269 w 12192000"/>
                <a:gd name="connsiteY1" fmla="*/ 0 h 4923876"/>
                <a:gd name="connsiteX2" fmla="*/ 3825090 w 12192000"/>
                <a:gd name="connsiteY2" fmla="*/ 351771 h 4923876"/>
                <a:gd name="connsiteX3" fmla="*/ 4195910 w 12192000"/>
                <a:gd name="connsiteY3" fmla="*/ 0 h 4923876"/>
                <a:gd name="connsiteX4" fmla="*/ 12192000 w 12192000"/>
                <a:gd name="connsiteY4" fmla="*/ 0 h 4923876"/>
                <a:gd name="connsiteX5" fmla="*/ 12171558 w 12192000"/>
                <a:gd name="connsiteY5" fmla="*/ 4923876 h 4923876"/>
                <a:gd name="connsiteX6" fmla="*/ 0 w 12192000"/>
                <a:gd name="connsiteY6" fmla="*/ 4864883 h 4923876"/>
                <a:gd name="connsiteX7" fmla="*/ 0 w 12192000"/>
                <a:gd name="connsiteY7" fmla="*/ 0 h 4923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923876">
                  <a:moveTo>
                    <a:pt x="0" y="0"/>
                  </a:moveTo>
                  <a:lnTo>
                    <a:pt x="3454269" y="0"/>
                  </a:lnTo>
                  <a:lnTo>
                    <a:pt x="3825090" y="351771"/>
                  </a:lnTo>
                  <a:lnTo>
                    <a:pt x="4195910" y="0"/>
                  </a:lnTo>
                  <a:lnTo>
                    <a:pt x="12192000" y="0"/>
                  </a:lnTo>
                  <a:lnTo>
                    <a:pt x="12171558" y="4923876"/>
                  </a:lnTo>
                  <a:lnTo>
                    <a:pt x="0" y="4864883"/>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pic>
        <p:nvPicPr>
          <p:cNvPr id="12" name="Grafik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Datumsplatzhalter 1"/>
          <p:cNvSpPr>
            <a:spLocks noGrp="1"/>
          </p:cNvSpPr>
          <p:nvPr>
            <p:ph type="dt" sz="half" idx="10"/>
          </p:nvPr>
        </p:nvSpPr>
        <p:spPr/>
        <p:txBody>
          <a:bodyPr/>
          <a:lstStyle/>
          <a:p>
            <a:fld id="{CB2A2B79-0F72-4518-B178-B62CC6C241C1}"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22</a:t>
            </a:fld>
            <a:endParaRPr lang="de-DE" dirty="0"/>
          </a:p>
        </p:txBody>
      </p:sp>
      <p:sp>
        <p:nvSpPr>
          <p:cNvPr id="7" name="Textplatzhalter 6"/>
          <p:cNvSpPr>
            <a:spLocks noGrp="1"/>
          </p:cNvSpPr>
          <p:nvPr>
            <p:ph type="body" sz="quarter" idx="13"/>
          </p:nvPr>
        </p:nvSpPr>
        <p:spPr/>
        <p:txBody>
          <a:bodyPr/>
          <a:lstStyle/>
          <a:p>
            <a:r>
              <a:rPr lang="de-DE" dirty="0" smtClean="0"/>
              <a:t>„Sie haben erfolgreich eine SQL Abfrage über Java ausgeführt.“</a:t>
            </a:r>
            <a:endParaRPr lang="de-DE" dirty="0"/>
          </a:p>
          <a:p>
            <a:endParaRPr lang="de-DE" dirty="0"/>
          </a:p>
        </p:txBody>
      </p:sp>
      <p:sp>
        <p:nvSpPr>
          <p:cNvPr id="13" name="Bildplatzhalter 12"/>
          <p:cNvSpPr>
            <a:spLocks noGrp="1"/>
          </p:cNvSpPr>
          <p:nvPr>
            <p:ph type="pic" sz="quarter" idx="15"/>
          </p:nvPr>
        </p:nvSpPr>
        <p:spPr/>
      </p:sp>
      <p:sp>
        <p:nvSpPr>
          <p:cNvPr id="14" name="Grafik 83" descr="Chatblase">
            <a:extLst>
              <a:ext uri="{FF2B5EF4-FFF2-40B4-BE49-F238E27FC236}">
                <a16:creationId xmlns:a16="http://schemas.microsoft.com/office/drawing/2014/main" id="{E7B84235-00E5-4994-AE25-BF02D689C651}"/>
              </a:ext>
            </a:extLst>
          </p:cNvPr>
          <p:cNvSpPr/>
          <p:nvPr/>
        </p:nvSpPr>
        <p:spPr>
          <a:xfrm>
            <a:off x="702895" y="4648381"/>
            <a:ext cx="1049705" cy="957082"/>
          </a:xfrm>
          <a:custGeom>
            <a:avLst/>
            <a:gdLst>
              <a:gd name="connsiteX0" fmla="*/ 477502 w 502634"/>
              <a:gd name="connsiteY0" fmla="*/ 0 h 458283"/>
              <a:gd name="connsiteX1" fmla="*/ 25132 w 502634"/>
              <a:gd name="connsiteY1" fmla="*/ 0 h 458283"/>
              <a:gd name="connsiteX2" fmla="*/ 0 w 502634"/>
              <a:gd name="connsiteY2" fmla="*/ 25427 h 458283"/>
              <a:gd name="connsiteX3" fmla="*/ 0 w 502634"/>
              <a:gd name="connsiteY3" fmla="*/ 25427 h 458283"/>
              <a:gd name="connsiteX4" fmla="*/ 0 w 502634"/>
              <a:gd name="connsiteY4" fmla="*/ 330999 h 458283"/>
              <a:gd name="connsiteX5" fmla="*/ 25131 w 502634"/>
              <a:gd name="connsiteY5" fmla="*/ 356426 h 458283"/>
              <a:gd name="connsiteX6" fmla="*/ 25132 w 502634"/>
              <a:gd name="connsiteY6" fmla="*/ 356426 h 458283"/>
              <a:gd name="connsiteX7" fmla="*/ 301580 w 502634"/>
              <a:gd name="connsiteY7" fmla="*/ 356426 h 458283"/>
              <a:gd name="connsiteX8" fmla="*/ 402107 w 502634"/>
              <a:gd name="connsiteY8" fmla="*/ 458283 h 458283"/>
              <a:gd name="connsiteX9" fmla="*/ 402107 w 502634"/>
              <a:gd name="connsiteY9" fmla="*/ 356426 h 458283"/>
              <a:gd name="connsiteX10" fmla="*/ 477502 w 502634"/>
              <a:gd name="connsiteY10" fmla="*/ 356426 h 458283"/>
              <a:gd name="connsiteX11" fmla="*/ 502634 w 502634"/>
              <a:gd name="connsiteY11" fmla="*/ 331000 h 458283"/>
              <a:gd name="connsiteX12" fmla="*/ 502634 w 502634"/>
              <a:gd name="connsiteY12" fmla="*/ 330999 h 458283"/>
              <a:gd name="connsiteX13" fmla="*/ 502634 w 502634"/>
              <a:gd name="connsiteY13" fmla="*/ 25427 h 458283"/>
              <a:gd name="connsiteX14" fmla="*/ 477503 w 502634"/>
              <a:gd name="connsiteY14" fmla="*/ 0 h 458283"/>
              <a:gd name="connsiteX15" fmla="*/ 477502 w 502634"/>
              <a:gd name="connsiteY15" fmla="*/ 0 h 458283"/>
              <a:gd name="connsiteX16" fmla="*/ 133050 w 502634"/>
              <a:gd name="connsiteY16" fmla="*/ 214358 h 458283"/>
              <a:gd name="connsiteX17" fmla="*/ 96092 w 502634"/>
              <a:gd name="connsiteY17" fmla="*/ 177400 h 458283"/>
              <a:gd name="connsiteX18" fmla="*/ 133050 w 502634"/>
              <a:gd name="connsiteY18" fmla="*/ 140442 h 458283"/>
              <a:gd name="connsiteX19" fmla="*/ 170009 w 502634"/>
              <a:gd name="connsiteY19" fmla="*/ 177400 h 458283"/>
              <a:gd name="connsiteX20" fmla="*/ 133050 w 502634"/>
              <a:gd name="connsiteY20" fmla="*/ 214358 h 458283"/>
              <a:gd name="connsiteX21" fmla="*/ 251317 w 502634"/>
              <a:gd name="connsiteY21" fmla="*/ 214358 h 458283"/>
              <a:gd name="connsiteX22" fmla="*/ 214359 w 502634"/>
              <a:gd name="connsiteY22" fmla="*/ 177400 h 458283"/>
              <a:gd name="connsiteX23" fmla="*/ 251317 w 502634"/>
              <a:gd name="connsiteY23" fmla="*/ 140442 h 458283"/>
              <a:gd name="connsiteX24" fmla="*/ 288275 w 502634"/>
              <a:gd name="connsiteY24" fmla="*/ 177400 h 458283"/>
              <a:gd name="connsiteX25" fmla="*/ 251317 w 502634"/>
              <a:gd name="connsiteY25" fmla="*/ 214358 h 458283"/>
              <a:gd name="connsiteX26" fmla="*/ 369584 w 502634"/>
              <a:gd name="connsiteY26" fmla="*/ 214358 h 458283"/>
              <a:gd name="connsiteX27" fmla="*/ 332625 w 502634"/>
              <a:gd name="connsiteY27" fmla="*/ 177400 h 458283"/>
              <a:gd name="connsiteX28" fmla="*/ 369584 w 502634"/>
              <a:gd name="connsiteY28" fmla="*/ 140442 h 458283"/>
              <a:gd name="connsiteX29" fmla="*/ 406542 w 502634"/>
              <a:gd name="connsiteY29" fmla="*/ 177400 h 458283"/>
              <a:gd name="connsiteX30" fmla="*/ 369584 w 502634"/>
              <a:gd name="connsiteY30" fmla="*/ 214358 h 45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02634" h="458283">
                <a:moveTo>
                  <a:pt x="477502" y="0"/>
                </a:moveTo>
                <a:lnTo>
                  <a:pt x="25132" y="0"/>
                </a:lnTo>
                <a:cubicBezTo>
                  <a:pt x="11171" y="81"/>
                  <a:pt x="-81" y="11465"/>
                  <a:pt x="0" y="25427"/>
                </a:cubicBezTo>
                <a:cubicBezTo>
                  <a:pt x="0" y="25427"/>
                  <a:pt x="0" y="25427"/>
                  <a:pt x="0" y="25427"/>
                </a:cubicBezTo>
                <a:lnTo>
                  <a:pt x="0" y="330999"/>
                </a:lnTo>
                <a:cubicBezTo>
                  <a:pt x="-82" y="344960"/>
                  <a:pt x="11170" y="356344"/>
                  <a:pt x="25131" y="356426"/>
                </a:cubicBezTo>
                <a:cubicBezTo>
                  <a:pt x="25131" y="356426"/>
                  <a:pt x="25132" y="356426"/>
                  <a:pt x="25132" y="356426"/>
                </a:cubicBezTo>
                <a:lnTo>
                  <a:pt x="301580" y="356426"/>
                </a:lnTo>
                <a:lnTo>
                  <a:pt x="402107" y="458283"/>
                </a:lnTo>
                <a:lnTo>
                  <a:pt x="402107" y="356426"/>
                </a:lnTo>
                <a:lnTo>
                  <a:pt x="477502" y="356426"/>
                </a:lnTo>
                <a:cubicBezTo>
                  <a:pt x="491464" y="356345"/>
                  <a:pt x="502715" y="344961"/>
                  <a:pt x="502634" y="331000"/>
                </a:cubicBezTo>
                <a:cubicBezTo>
                  <a:pt x="502634" y="331000"/>
                  <a:pt x="502634" y="330999"/>
                  <a:pt x="502634" y="330999"/>
                </a:cubicBezTo>
                <a:lnTo>
                  <a:pt x="502634" y="25427"/>
                </a:lnTo>
                <a:cubicBezTo>
                  <a:pt x="502716" y="11466"/>
                  <a:pt x="491464" y="82"/>
                  <a:pt x="477503" y="0"/>
                </a:cubicBezTo>
                <a:cubicBezTo>
                  <a:pt x="477503" y="0"/>
                  <a:pt x="477502" y="0"/>
                  <a:pt x="477502" y="0"/>
                </a:cubicBezTo>
                <a:close/>
                <a:moveTo>
                  <a:pt x="133050" y="214358"/>
                </a:moveTo>
                <a:cubicBezTo>
                  <a:pt x="112639" y="214358"/>
                  <a:pt x="96092" y="197811"/>
                  <a:pt x="96092" y="177400"/>
                </a:cubicBezTo>
                <a:cubicBezTo>
                  <a:pt x="96092" y="156989"/>
                  <a:pt x="112639" y="140442"/>
                  <a:pt x="133050" y="140442"/>
                </a:cubicBezTo>
                <a:cubicBezTo>
                  <a:pt x="153462" y="140442"/>
                  <a:pt x="170009" y="156989"/>
                  <a:pt x="170009" y="177400"/>
                </a:cubicBezTo>
                <a:cubicBezTo>
                  <a:pt x="170009" y="197811"/>
                  <a:pt x="153462" y="214358"/>
                  <a:pt x="133050" y="214358"/>
                </a:cubicBezTo>
                <a:close/>
                <a:moveTo>
                  <a:pt x="251317" y="214358"/>
                </a:moveTo>
                <a:cubicBezTo>
                  <a:pt x="230906" y="214358"/>
                  <a:pt x="214359" y="197811"/>
                  <a:pt x="214359" y="177400"/>
                </a:cubicBezTo>
                <a:cubicBezTo>
                  <a:pt x="214359" y="156989"/>
                  <a:pt x="230906" y="140442"/>
                  <a:pt x="251317" y="140442"/>
                </a:cubicBezTo>
                <a:cubicBezTo>
                  <a:pt x="271728" y="140442"/>
                  <a:pt x="288275" y="156989"/>
                  <a:pt x="288275" y="177400"/>
                </a:cubicBezTo>
                <a:cubicBezTo>
                  <a:pt x="288275" y="197811"/>
                  <a:pt x="271728" y="214358"/>
                  <a:pt x="251317" y="214358"/>
                </a:cubicBezTo>
                <a:close/>
                <a:moveTo>
                  <a:pt x="369584" y="214358"/>
                </a:moveTo>
                <a:cubicBezTo>
                  <a:pt x="349172" y="214358"/>
                  <a:pt x="332625" y="197811"/>
                  <a:pt x="332625" y="177400"/>
                </a:cubicBezTo>
                <a:cubicBezTo>
                  <a:pt x="332625" y="156989"/>
                  <a:pt x="349172" y="140442"/>
                  <a:pt x="369584" y="140442"/>
                </a:cubicBezTo>
                <a:cubicBezTo>
                  <a:pt x="389995" y="140442"/>
                  <a:pt x="406542" y="156989"/>
                  <a:pt x="406542" y="177400"/>
                </a:cubicBezTo>
                <a:cubicBezTo>
                  <a:pt x="406542" y="197811"/>
                  <a:pt x="389995" y="214358"/>
                  <a:pt x="369584" y="214358"/>
                </a:cubicBezTo>
                <a:close/>
              </a:path>
            </a:pathLst>
          </a:custGeom>
          <a:solidFill>
            <a:srgbClr val="FFFFFF"/>
          </a:solidFill>
          <a:ln w="7342" cap="flat">
            <a:noFill/>
            <a:prstDash val="solid"/>
            <a:miter/>
          </a:ln>
        </p:spPr>
        <p:txBody>
          <a:bodyPr rtlCol="0" anchor="ctr"/>
          <a:lstStyle/>
          <a:p>
            <a:endParaRPr lang="de-DE" dirty="0"/>
          </a:p>
        </p:txBody>
      </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22208805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AD6C4230-55CE-4C95-96C6-4631032DF92C}" type="datetime1">
              <a:rPr lang="de-DE" smtClean="0"/>
              <a:t>17.09.2021</a:t>
            </a:fld>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23</a:t>
            </a:fld>
            <a:endParaRPr lang="de-DE" dirty="0"/>
          </a:p>
        </p:txBody>
      </p:sp>
      <p:sp>
        <p:nvSpPr>
          <p:cNvPr id="7" name="Textplatzhalter 6"/>
          <p:cNvSpPr>
            <a:spLocks noGrp="1"/>
          </p:cNvSpPr>
          <p:nvPr>
            <p:ph type="body" sz="quarter" idx="13"/>
          </p:nvPr>
        </p:nvSpPr>
        <p:spPr/>
        <p:txBody>
          <a:bodyPr/>
          <a:lstStyle/>
          <a:p>
            <a:r>
              <a:rPr lang="de-DE" dirty="0" smtClean="0"/>
              <a:t>VIELEN DANK!</a:t>
            </a:r>
            <a:endParaRPr lang="de-DE" dirty="0"/>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dirty="0"/>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dirty="0"/>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dirty="0"/>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dirty="0"/>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endParaRPr lang="de-DE" dirty="0"/>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dirty="0"/>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dirty="0"/>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dirty="0"/>
            </a:p>
          </p:txBody>
        </p:sp>
      </p:grpSp>
      <p:sp>
        <p:nvSpPr>
          <p:cNvPr id="5" name="Fußzeilenplatzhalter 4"/>
          <p:cNvSpPr>
            <a:spLocks noGrp="1"/>
          </p:cNvSpPr>
          <p:nvPr>
            <p:ph type="ftr" sz="quarter" idx="11"/>
          </p:nvPr>
        </p:nvSpPr>
        <p:spPr/>
        <p:txBody>
          <a:bodyPr/>
          <a:lstStyle/>
          <a:p>
            <a:r>
              <a:rPr lang="de-DE" smtClean="0"/>
              <a:t>Datenbankverbindung mit IntelliJ und MySQL</a:t>
            </a:r>
            <a:endParaRPr lang="de-DE" dirty="0"/>
          </a:p>
        </p:txBody>
      </p:sp>
    </p:spTree>
    <p:extLst>
      <p:ext uri="{BB962C8B-B14F-4D97-AF65-F5344CB8AC3E}">
        <p14:creationId xmlns:p14="http://schemas.microsoft.com/office/powerpoint/2010/main" val="42512874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2E2894E4CF43FC4786D65296C0CD6BF1" ma:contentTypeVersion="13" ma:contentTypeDescription="Ein neues Dokument erstellen." ma:contentTypeScope="" ma:versionID="deefdcd972700ac8678a37ddd91f1e8b">
  <xsd:schema xmlns:xsd="http://www.w3.org/2001/XMLSchema" xmlns:xs="http://www.w3.org/2001/XMLSchema" xmlns:p="http://schemas.microsoft.com/office/2006/metadata/properties" xmlns:ns2="f22e8a00-551a-48c6-b378-c6ed4955e6ee" xmlns:ns3="8757b47b-59dc-4c9e-8178-d43937388e35" targetNamespace="http://schemas.microsoft.com/office/2006/metadata/properties" ma:root="true" ma:fieldsID="63c2455b7033f0c82304b1b2c1502425" ns2:_="" ns3:_="">
    <xsd:import namespace="f22e8a00-551a-48c6-b378-c6ed4955e6ee"/>
    <xsd:import namespace="8757b47b-59dc-4c9e-8178-d43937388e3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2e8a00-551a-48c6-b378-c6ed4955e6ee" elementFormDefault="qualified">
    <xsd:import namespace="http://schemas.microsoft.com/office/2006/documentManagement/types"/>
    <xsd:import namespace="http://schemas.microsoft.com/office/infopath/2007/PartnerControls"/>
    <xsd:element name="SharedWithUsers" ma:index="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Freigegeben für - Details" ma:internalName="SharedWithDetails" ma:readOnly="true">
      <xsd:simpleType>
        <xsd:restriction base="dms:Note">
          <xsd:maxLength value="255"/>
        </xsd:restriction>
      </xsd:simpleType>
    </xsd:element>
    <xsd:element name="TaxCatchAll" ma:index="14" nillable="true" ma:displayName="Taxonomy Catch All Column" ma:hidden="true" ma:list="{559174ce-b004-4f1e-a04d-a197baedd0ca}" ma:internalName="TaxCatchAll" ma:showField="CatchAllData" ma:web="f22e8a00-551a-48c6-b378-c6ed4955e6e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757b47b-59dc-4c9e-8178-d43937388e3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ecb1af77-71c4-40a4-865f-7f05b01a85a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22e8a00-551a-48c6-b378-c6ed4955e6ee" xsi:nil="true"/>
    <lcf76f155ced4ddcb4097134ff3c332f xmlns="8757b47b-59dc-4c9e-8178-d43937388e3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870BA99-9795-4238-9919-03D8203AA8D7}"/>
</file>

<file path=customXml/itemProps2.xml><?xml version="1.0" encoding="utf-8"?>
<ds:datastoreItem xmlns:ds="http://schemas.openxmlformats.org/officeDocument/2006/customXml" ds:itemID="{F1287064-7EF7-4766-85F1-88A3E081553F}"/>
</file>

<file path=customXml/itemProps3.xml><?xml version="1.0" encoding="utf-8"?>
<ds:datastoreItem xmlns:ds="http://schemas.openxmlformats.org/officeDocument/2006/customXml" ds:itemID="{946A9599-ADDE-4E25-9134-247A369D0EDC}"/>
</file>

<file path=docProps/app.xml><?xml version="1.0" encoding="utf-8"?>
<Properties xmlns="http://schemas.openxmlformats.org/officeDocument/2006/extended-properties" xmlns:vt="http://schemas.openxmlformats.org/officeDocument/2006/docPropsVTypes">
  <TotalTime>0</TotalTime>
  <Words>965</Words>
  <Application>Microsoft Office PowerPoint</Application>
  <PresentationFormat>Breitbild</PresentationFormat>
  <Paragraphs>160</Paragraphs>
  <Slides>23</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23</vt:i4>
      </vt:variant>
    </vt:vector>
  </HeadingPairs>
  <TitlesOfParts>
    <vt:vector size="28" baseType="lpstr">
      <vt:lpstr>Arial</vt:lpstr>
      <vt:lpstr>Calibri</vt:lpstr>
      <vt:lpstr>Consolas</vt:lpstr>
      <vt:lpstr>Wingdings</vt:lpstr>
      <vt:lpstr>Office</vt:lpstr>
      <vt:lpstr>Java Programmierung</vt:lpstr>
      <vt:lpstr>Themenübersicht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WBS TRAINING AG</dc:creator>
  <cp:lastModifiedBy>Max Muster01</cp:lastModifiedBy>
  <cp:revision>194</cp:revision>
  <dcterms:created xsi:type="dcterms:W3CDTF">2021-03-02T18:50:01Z</dcterms:created>
  <dcterms:modified xsi:type="dcterms:W3CDTF">2021-09-17T10:13:53Z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0x0101002E2894E4CF43FC4786D65296C0CD6BF1</vt:lpwstr>
  </property>
  <property fmtid="{D5CDD505-2E9C-101B-9397-08002B2CF9AE}" pid="3" name="MSIP_Label_fbcd8fc3-b265-457f-a091-07ed218d65a3_Enabled">
    <vt:lpwstr>true</vt:lpwstr>
  </property>
  <property fmtid="{D5CDD505-2E9C-101B-9397-08002B2CF9AE}" pid="4" name="MSIP_Label_fbcd8fc3-b265-457f-a091-07ed218d65a3_SetDate">
    <vt:lpwstr>2023-04-28T11:20:58Z</vt:lpwstr>
  </property>
  <property fmtid="{D5CDD505-2E9C-101B-9397-08002B2CF9AE}" pid="5" name="MSIP_Label_fbcd8fc3-b265-457f-a091-07ed218d65a3_Method">
    <vt:lpwstr>Privileged</vt:lpwstr>
  </property>
  <property fmtid="{D5CDD505-2E9C-101B-9397-08002B2CF9AE}" pid="6" name="MSIP_Label_fbcd8fc3-b265-457f-a091-07ed218d65a3_Name">
    <vt:lpwstr>Temporär</vt:lpwstr>
  </property>
  <property fmtid="{D5CDD505-2E9C-101B-9397-08002B2CF9AE}" pid="7" name="MSIP_Label_fbcd8fc3-b265-457f-a091-07ed218d65a3_SiteId">
    <vt:lpwstr>c3759932-d709-4ec4-b7d5-bcee39f7a2fc</vt:lpwstr>
  </property>
  <property fmtid="{D5CDD505-2E9C-101B-9397-08002B2CF9AE}" pid="8" name="MSIP_Label_fbcd8fc3-b265-457f-a091-07ed218d65a3_ActionId">
    <vt:lpwstr>c01a7305-c3db-45c7-ab8c-aab7f1d8b9e1</vt:lpwstr>
  </property>
  <property fmtid="{D5CDD505-2E9C-101B-9397-08002B2CF9AE}" pid="9" name="MSIP_Label_fbcd8fc3-b265-457f-a091-07ed218d65a3_ContentBits">
    <vt:lpwstr>0</vt:lpwstr>
  </property>
  <property fmtid="{D5CDD505-2E9C-101B-9397-08002B2CF9AE}" pid="10" name="MediaServiceImageTags">
    <vt:lpwstr/>
  </property>
</Properties>
</file>